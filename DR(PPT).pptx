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1"/>
  </p:notesMasterIdLst>
  <p:sldIdLst>
    <p:sldId id="265" r:id="rId2"/>
    <p:sldId id="256" r:id="rId3"/>
    <p:sldId id="267" r:id="rId4"/>
    <p:sldId id="294" r:id="rId5"/>
    <p:sldId id="310" r:id="rId6"/>
    <p:sldId id="296" r:id="rId7"/>
    <p:sldId id="297" r:id="rId8"/>
    <p:sldId id="302" r:id="rId9"/>
    <p:sldId id="304" r:id="rId10"/>
    <p:sldId id="311" r:id="rId11"/>
    <p:sldId id="305" r:id="rId12"/>
    <p:sldId id="307" r:id="rId13"/>
    <p:sldId id="303" r:id="rId14"/>
    <p:sldId id="309" r:id="rId15"/>
    <p:sldId id="316" r:id="rId16"/>
    <p:sldId id="317" r:id="rId17"/>
    <p:sldId id="315" r:id="rId18"/>
    <p:sldId id="319" r:id="rId19"/>
    <p:sldId id="284" r:id="rId20"/>
    <p:sldId id="283" r:id="rId21"/>
    <p:sldId id="280" r:id="rId22"/>
    <p:sldId id="279" r:id="rId23"/>
    <p:sldId id="299" r:id="rId24"/>
    <p:sldId id="301" r:id="rId25"/>
    <p:sldId id="300" r:id="rId26"/>
    <p:sldId id="276" r:id="rId27"/>
    <p:sldId id="264" r:id="rId28"/>
    <p:sldId id="271" r:id="rId29"/>
    <p:sldId id="273"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1"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guide orient="horz" pos="2181"/>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 sai Harsha Vardhan" userId="51b079485a0d1ead" providerId="LiveId" clId="{C25EB4A9-ABCF-447B-AE45-0D33C5693AF0}"/>
    <pc:docChg chg="modSld">
      <pc:chgData name="g sai Harsha Vardhan" userId="51b079485a0d1ead" providerId="LiveId" clId="{C25EB4A9-ABCF-447B-AE45-0D33C5693AF0}" dt="2026-04-22T13:08:19.436" v="1" actId="1076"/>
      <pc:docMkLst>
        <pc:docMk/>
      </pc:docMkLst>
      <pc:sldChg chg="modSp mod">
        <pc:chgData name="g sai Harsha Vardhan" userId="51b079485a0d1ead" providerId="LiveId" clId="{C25EB4A9-ABCF-447B-AE45-0D33C5693AF0}" dt="2026-04-22T13:08:19.436" v="1" actId="1076"/>
        <pc:sldMkLst>
          <pc:docMk/>
          <pc:sldMk cId="0" sldId="283"/>
        </pc:sldMkLst>
        <pc:graphicFrameChg chg="mod">
          <ac:chgData name="g sai Harsha Vardhan" userId="51b079485a0d1ead" providerId="LiveId" clId="{C25EB4A9-ABCF-447B-AE45-0D33C5693AF0}" dt="2026-04-22T13:08:19.436" v="1" actId="1076"/>
          <ac:graphicFrameMkLst>
            <pc:docMk/>
            <pc:sldMk cId="0" sldId="283"/>
            <ac:graphicFrameMk id="3" creationId="{AD0C420C-4B98-D576-F606-96E92BF44CB1}"/>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7CF334-20B5-44BF-90E0-B6113A328F5D}" type="datetimeFigureOut">
              <a:rPr lang="en-IN" smtClean="0"/>
              <a:pPr/>
              <a:t>22-04-2026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C9B9AD-7273-4DA4-A4B6-7D154192D3D5}" type="slidenum">
              <a:rPr lang="en-IN" smtClean="0"/>
              <a:pPr/>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4C9B9AD-7273-4DA4-A4B6-7D154192D3D5}" type="slidenum">
              <a:rPr lang="en-IN" smtClean="0"/>
              <a:pPr/>
              <a:t>1</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88257F67-21C3-41CC-B883-51285DA9CDF3}" type="datetimeFigureOut">
              <a:rPr lang="en-IN" smtClean="0"/>
              <a:pPr/>
              <a:t>22-04-2026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E4F3212-803B-43C8-8176-CC0C145EB50E}"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8257F67-21C3-41CC-B883-51285DA9CDF3}" type="datetimeFigureOut">
              <a:rPr lang="en-IN" smtClean="0"/>
              <a:pPr/>
              <a:t>22-04-2026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E4F3212-803B-43C8-8176-CC0C145EB50E}"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8257F67-21C3-41CC-B883-51285DA9CDF3}" type="datetimeFigureOut">
              <a:rPr lang="en-IN" smtClean="0"/>
              <a:pPr/>
              <a:t>22-04-2026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E4F3212-803B-43C8-8176-CC0C145EB50E}"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8257F67-21C3-41CC-B883-51285DA9CDF3}" type="datetimeFigureOut">
              <a:rPr lang="en-IN" smtClean="0"/>
              <a:pPr/>
              <a:t>22-04-2026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E4F3212-803B-43C8-8176-CC0C145EB50E}"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88257F67-21C3-41CC-B883-51285DA9CDF3}" type="datetimeFigureOut">
              <a:rPr lang="en-IN" smtClean="0"/>
              <a:pPr/>
              <a:t>22-04-2026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E4F3212-803B-43C8-8176-CC0C145EB50E}"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88257F67-21C3-41CC-B883-51285DA9CDF3}" type="datetimeFigureOut">
              <a:rPr lang="en-IN" smtClean="0"/>
              <a:pPr/>
              <a:t>22-04-2026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E4F3212-803B-43C8-8176-CC0C145EB50E}"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257F67-21C3-41CC-B883-51285DA9CDF3}" type="datetimeFigureOut">
              <a:rPr lang="en-IN" smtClean="0"/>
              <a:pPr/>
              <a:t>22-04-2026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E4F3212-803B-43C8-8176-CC0C145EB50E}"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8257F67-21C3-41CC-B883-51285DA9CDF3}" type="datetimeFigureOut">
              <a:rPr lang="en-IN" smtClean="0"/>
              <a:pPr/>
              <a:t>22-04-2026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E4F3212-803B-43C8-8176-CC0C145EB50E}"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8257F67-21C3-41CC-B883-51285DA9CDF3}" type="datetimeFigureOut">
              <a:rPr lang="en-IN" smtClean="0"/>
              <a:pPr/>
              <a:t>22-04-2026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E4F3212-803B-43C8-8176-CC0C145EB50E}"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8257F67-21C3-41CC-B883-51285DA9CDF3}" type="datetimeFigureOut">
              <a:rPr lang="en-IN" smtClean="0"/>
              <a:pPr/>
              <a:t>22-04-2026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E4F3212-803B-43C8-8176-CC0C145EB50E}"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8257F67-21C3-41CC-B883-51285DA9CDF3}" type="datetimeFigureOut">
              <a:rPr lang="en-IN" smtClean="0"/>
              <a:pPr/>
              <a:t>22-04-2026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E4F3212-803B-43C8-8176-CC0C145EB50E}" type="slidenum">
              <a:rPr lang="en-IN" smtClean="0"/>
              <a:pPr/>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8257F67-21C3-41CC-B883-51285DA9CDF3}" type="datetimeFigureOut">
              <a:rPr lang="en-IN" smtClean="0"/>
              <a:pPr/>
              <a:t>22-04-2026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E4F3212-803B-43C8-8176-CC0C145EB50E}"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257F67-21C3-41CC-B883-51285DA9CDF3}" type="datetimeFigureOut">
              <a:rPr lang="en-IN" smtClean="0"/>
              <a:pPr/>
              <a:t>22-04-2026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4F3212-803B-43C8-8176-CC0C145EB50E}"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gamma.app"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810578" y="4592472"/>
            <a:ext cx="4479879" cy="1447576"/>
          </a:xfrm>
          <a:prstGeom prst="rect">
            <a:avLst/>
          </a:prstGeom>
        </p:spPr>
        <p:txBody>
          <a:bodyPr vert="horz" wrap="square" lIns="0" tIns="12700" rIns="0" bIns="0" rtlCol="0" anchor="t">
            <a:spAutoFit/>
          </a:bodyPr>
          <a:lstStyle/>
          <a:p>
            <a:pPr marL="12700" marR="871855" algn="just">
              <a:lnSpc>
                <a:spcPct val="111000"/>
              </a:lnSpc>
              <a:spcBef>
                <a:spcPts val="100"/>
              </a:spcBef>
            </a:pPr>
            <a:r>
              <a:rPr sz="2000" u="sng">
                <a:solidFill>
                  <a:srgbClr val="1E2C40"/>
                </a:solidFill>
                <a:latin typeface="Carlito"/>
                <a:cs typeface="Carlito"/>
              </a:rPr>
              <a:t>Presented</a:t>
            </a:r>
            <a:r>
              <a:rPr sz="2000" u="sng" spc="125">
                <a:solidFill>
                  <a:srgbClr val="1E2C40"/>
                </a:solidFill>
                <a:latin typeface="Carlito"/>
                <a:cs typeface="Carlito"/>
              </a:rPr>
              <a:t>  </a:t>
            </a:r>
            <a:r>
              <a:rPr sz="2000" u="sng">
                <a:solidFill>
                  <a:srgbClr val="1E2C40"/>
                </a:solidFill>
                <a:latin typeface="Carlito"/>
                <a:cs typeface="Carlito"/>
              </a:rPr>
              <a:t>By</a:t>
            </a:r>
            <a:r>
              <a:rPr sz="2000" u="sng" spc="295">
                <a:solidFill>
                  <a:srgbClr val="1E2C40"/>
                </a:solidFill>
                <a:latin typeface="Carlito"/>
                <a:cs typeface="Carlito"/>
              </a:rPr>
              <a:t> </a:t>
            </a:r>
            <a:endParaRPr sz="2000" u="sng">
              <a:latin typeface="Carlito"/>
              <a:cs typeface="Carlito"/>
            </a:endParaRPr>
          </a:p>
          <a:p>
            <a:pPr marL="12700" marR="5080">
              <a:lnSpc>
                <a:spcPct val="111000"/>
              </a:lnSpc>
              <a:tabLst>
                <a:tab pos="2041525" algn="l"/>
              </a:tabLst>
            </a:pPr>
            <a:r>
              <a:rPr lang="en-IN" sz="1600" spc="-25">
                <a:solidFill>
                  <a:srgbClr val="1E2C40"/>
                </a:solidFill>
                <a:latin typeface="Carlito"/>
                <a:cs typeface="Carlito"/>
              </a:rPr>
              <a:t>P. LOKANADHA VENKATA SAI  </a:t>
            </a:r>
            <a:r>
              <a:rPr lang="en-IN" sz="1600" spc="-15">
                <a:solidFill>
                  <a:srgbClr val="1E2C40"/>
                </a:solidFill>
                <a:latin typeface="Carlito"/>
                <a:cs typeface="Carlito"/>
              </a:rPr>
              <a:t>(</a:t>
            </a:r>
            <a:r>
              <a:rPr sz="1600" spc="-10">
                <a:solidFill>
                  <a:srgbClr val="1E2C40"/>
                </a:solidFill>
                <a:latin typeface="Carlito"/>
                <a:cs typeface="Carlito"/>
              </a:rPr>
              <a:t>A21126512110</a:t>
            </a:r>
            <a:r>
              <a:rPr lang="en-IN" sz="1600" spc="-10">
                <a:solidFill>
                  <a:srgbClr val="1E2C40"/>
                </a:solidFill>
                <a:latin typeface="Carlito"/>
                <a:cs typeface="Carlito"/>
              </a:rPr>
              <a:t>)</a:t>
            </a:r>
            <a:r>
              <a:rPr sz="1600" spc="-10">
                <a:solidFill>
                  <a:srgbClr val="1E2C40"/>
                </a:solidFill>
                <a:latin typeface="Carlito"/>
                <a:cs typeface="Carlito"/>
              </a:rPr>
              <a:t> </a:t>
            </a:r>
            <a:endParaRPr lang="en-IN" sz="1600" spc="-10">
              <a:solidFill>
                <a:srgbClr val="1E2C40"/>
              </a:solidFill>
              <a:latin typeface="Carlito"/>
              <a:cs typeface="Carlito"/>
            </a:endParaRPr>
          </a:p>
          <a:p>
            <a:pPr marL="12700" marR="5080">
              <a:lnSpc>
                <a:spcPct val="111000"/>
              </a:lnSpc>
              <a:tabLst>
                <a:tab pos="2041525" algn="l"/>
              </a:tabLst>
            </a:pPr>
            <a:r>
              <a:rPr lang="en-IN" sz="1600" spc="-10">
                <a:solidFill>
                  <a:srgbClr val="1E2C40"/>
                </a:solidFill>
                <a:latin typeface="Carlito"/>
                <a:cs typeface="Carlito"/>
              </a:rPr>
              <a:t>G. SAI HARSHA VARDHAN      </a:t>
            </a:r>
            <a:r>
              <a:rPr lang="en-IN" sz="1600" spc="-15">
                <a:solidFill>
                  <a:srgbClr val="1E2C40"/>
                </a:solidFill>
                <a:latin typeface="Carlito"/>
                <a:cs typeface="Carlito"/>
              </a:rPr>
              <a:t>(</a:t>
            </a:r>
            <a:r>
              <a:rPr sz="1600" spc="-10">
                <a:solidFill>
                  <a:srgbClr val="1E2C40"/>
                </a:solidFill>
                <a:latin typeface="Carlito"/>
                <a:cs typeface="Carlito"/>
              </a:rPr>
              <a:t>A21126512087</a:t>
            </a:r>
            <a:r>
              <a:rPr lang="en-IN" sz="1600" spc="-10">
                <a:solidFill>
                  <a:srgbClr val="1E2C40"/>
                </a:solidFill>
                <a:latin typeface="Carlito"/>
                <a:cs typeface="Carlito"/>
              </a:rPr>
              <a:t>)</a:t>
            </a:r>
            <a:r>
              <a:rPr sz="1600" spc="-10">
                <a:solidFill>
                  <a:srgbClr val="1E2C40"/>
                </a:solidFill>
                <a:latin typeface="Carlito"/>
                <a:cs typeface="Carlito"/>
              </a:rPr>
              <a:t> </a:t>
            </a:r>
            <a:endParaRPr lang="en-IN" sz="1600" spc="-10">
              <a:solidFill>
                <a:srgbClr val="1E2C40"/>
              </a:solidFill>
              <a:latin typeface="Carlito"/>
              <a:cs typeface="Carlito"/>
            </a:endParaRPr>
          </a:p>
          <a:p>
            <a:pPr marL="12700" marR="5080">
              <a:lnSpc>
                <a:spcPct val="111000"/>
              </a:lnSpc>
              <a:tabLst>
                <a:tab pos="2041525" algn="l"/>
              </a:tabLst>
            </a:pPr>
            <a:r>
              <a:rPr sz="1600">
                <a:solidFill>
                  <a:srgbClr val="1E2C40"/>
                </a:solidFill>
                <a:latin typeface="Carlito"/>
                <a:cs typeface="Carlito"/>
              </a:rPr>
              <a:t>MD</a:t>
            </a:r>
            <a:r>
              <a:rPr lang="en-IN" sz="1600">
                <a:solidFill>
                  <a:srgbClr val="1E2C40"/>
                </a:solidFill>
                <a:latin typeface="Carlito"/>
                <a:cs typeface="Carlito"/>
              </a:rPr>
              <a:t>. ABDUL REHAMAN BAGI  </a:t>
            </a:r>
            <a:r>
              <a:rPr lang="en-IN" sz="1600" spc="-45">
                <a:solidFill>
                  <a:srgbClr val="1E2C40"/>
                </a:solidFill>
                <a:latin typeface="Carlito"/>
                <a:cs typeface="Carlito"/>
              </a:rPr>
              <a:t>(</a:t>
            </a:r>
            <a:r>
              <a:rPr sz="1600" spc="-10">
                <a:solidFill>
                  <a:srgbClr val="1E2C40"/>
                </a:solidFill>
                <a:latin typeface="Carlito"/>
                <a:cs typeface="Carlito"/>
              </a:rPr>
              <a:t>A21126512204</a:t>
            </a:r>
            <a:r>
              <a:rPr lang="en-IN" sz="1600" spc="-10">
                <a:solidFill>
                  <a:srgbClr val="1E2C40"/>
                </a:solidFill>
                <a:latin typeface="Carlito"/>
                <a:cs typeface="Carlito"/>
              </a:rPr>
              <a:t>)</a:t>
            </a:r>
            <a:r>
              <a:rPr sz="1600" spc="-10">
                <a:solidFill>
                  <a:srgbClr val="1E2C40"/>
                </a:solidFill>
                <a:latin typeface="Carlito"/>
                <a:cs typeface="Carlito"/>
              </a:rPr>
              <a:t> </a:t>
            </a:r>
            <a:endParaRPr lang="en-IN" sz="1600" spc="-10">
              <a:solidFill>
                <a:srgbClr val="1E2C40"/>
              </a:solidFill>
              <a:latin typeface="Carlito"/>
              <a:cs typeface="Carlito"/>
            </a:endParaRPr>
          </a:p>
          <a:p>
            <a:pPr marL="12700" marR="5080">
              <a:lnSpc>
                <a:spcPct val="111000"/>
              </a:lnSpc>
              <a:tabLst>
                <a:tab pos="2041525" algn="l"/>
              </a:tabLst>
            </a:pPr>
            <a:r>
              <a:rPr sz="1600" spc="-25">
                <a:solidFill>
                  <a:srgbClr val="1E2C40"/>
                </a:solidFill>
                <a:latin typeface="Carlito"/>
                <a:cs typeface="Carlito"/>
              </a:rPr>
              <a:t>V</a:t>
            </a:r>
            <a:r>
              <a:rPr lang="en-US" sz="1600" spc="-25">
                <a:solidFill>
                  <a:srgbClr val="1E2C40"/>
                </a:solidFill>
                <a:latin typeface="Carlito"/>
                <a:cs typeface="Carlito"/>
              </a:rPr>
              <a:t>. </a:t>
            </a:r>
            <a:r>
              <a:rPr sz="1600" spc="-25">
                <a:solidFill>
                  <a:srgbClr val="1E2C40"/>
                </a:solidFill>
                <a:latin typeface="Carlito"/>
                <a:cs typeface="Carlito"/>
              </a:rPr>
              <a:t>C</a:t>
            </a:r>
            <a:r>
              <a:rPr lang="en-IN" sz="1600" spc="-25">
                <a:solidFill>
                  <a:srgbClr val="1E2C40"/>
                </a:solidFill>
                <a:latin typeface="Carlito"/>
                <a:cs typeface="Carlito"/>
              </a:rPr>
              <a:t>HANDRA SHEKAR              </a:t>
            </a:r>
            <a:r>
              <a:rPr lang="en-IN" sz="1600" spc="-10">
                <a:solidFill>
                  <a:srgbClr val="1E2C40"/>
                </a:solidFill>
                <a:latin typeface="Carlito"/>
                <a:cs typeface="Carlito"/>
              </a:rPr>
              <a:t>(</a:t>
            </a:r>
            <a:r>
              <a:rPr sz="1600" spc="-10">
                <a:solidFill>
                  <a:srgbClr val="1E2C40"/>
                </a:solidFill>
                <a:latin typeface="Carlito"/>
                <a:cs typeface="Carlito"/>
              </a:rPr>
              <a:t>A2112651212</a:t>
            </a:r>
            <a:r>
              <a:rPr lang="en-IN" sz="1600" spc="-10">
                <a:solidFill>
                  <a:srgbClr val="1E2C40"/>
                </a:solidFill>
                <a:latin typeface="Carlito"/>
                <a:cs typeface="Carlito"/>
              </a:rPr>
              <a:t>5)</a:t>
            </a:r>
            <a:endParaRPr sz="1600">
              <a:latin typeface="Carlito"/>
              <a:cs typeface="Carlito"/>
            </a:endParaRPr>
          </a:p>
        </p:txBody>
      </p:sp>
      <p:sp>
        <p:nvSpPr>
          <p:cNvPr id="8" name="object 8"/>
          <p:cNvSpPr txBox="1"/>
          <p:nvPr/>
        </p:nvSpPr>
        <p:spPr>
          <a:xfrm>
            <a:off x="7393410" y="4715872"/>
            <a:ext cx="2520611" cy="1200778"/>
          </a:xfrm>
          <a:prstGeom prst="rect">
            <a:avLst/>
          </a:prstGeom>
        </p:spPr>
        <p:txBody>
          <a:bodyPr vert="horz" wrap="square" lIns="0" tIns="12700" rIns="0" bIns="0" rtlCol="0" anchor="t">
            <a:spAutoFit/>
          </a:bodyPr>
          <a:lstStyle/>
          <a:p>
            <a:pPr marL="48260" marR="5080" indent="-36195">
              <a:lnSpc>
                <a:spcPct val="123000"/>
              </a:lnSpc>
              <a:spcBef>
                <a:spcPts val="100"/>
              </a:spcBef>
            </a:pPr>
            <a:r>
              <a:rPr lang="en-IN" sz="2000" u="sng" spc="-10">
                <a:solidFill>
                  <a:srgbClr val="1E2C40"/>
                </a:solidFill>
                <a:latin typeface="Times New Roman" panose="02020603050405020304"/>
                <a:cs typeface="Times New Roman" panose="02020603050405020304"/>
              </a:rPr>
              <a:t>Guided by</a:t>
            </a:r>
          </a:p>
          <a:p>
            <a:pPr marL="48260" marR="5080" indent="-36195">
              <a:lnSpc>
                <a:spcPct val="123000"/>
              </a:lnSpc>
              <a:spcBef>
                <a:spcPts val="100"/>
              </a:spcBef>
            </a:pPr>
            <a:r>
              <a:rPr lang="en-IN" sz="1400" b="1" spc="-25">
                <a:solidFill>
                  <a:srgbClr val="1E2C40"/>
                </a:solidFill>
                <a:latin typeface="Times New Roman" panose="02020603050405020304"/>
                <a:cs typeface="Times New Roman" panose="02020603050405020304"/>
              </a:rPr>
              <a:t>Mrs. </a:t>
            </a:r>
            <a:r>
              <a:rPr lang="en-IN" sz="1400" b="1">
                <a:solidFill>
                  <a:srgbClr val="1E2C40"/>
                </a:solidFill>
                <a:latin typeface="Times New Roman" panose="02020603050405020304"/>
                <a:cs typeface="Times New Roman" panose="02020603050405020304"/>
              </a:rPr>
              <a:t>G. INDIRA DEVI</a:t>
            </a:r>
          </a:p>
          <a:p>
            <a:pPr marL="48260" marR="5080" indent="-36195">
              <a:lnSpc>
                <a:spcPct val="123000"/>
              </a:lnSpc>
              <a:spcBef>
                <a:spcPts val="100"/>
              </a:spcBef>
            </a:pPr>
            <a:r>
              <a:rPr lang="en-IN" sz="1400" b="1" spc="-10">
                <a:solidFill>
                  <a:srgbClr val="1E2C40"/>
                </a:solidFill>
                <a:latin typeface="Times New Roman" panose="02020603050405020304"/>
                <a:cs typeface="Times New Roman" panose="02020603050405020304"/>
              </a:rPr>
              <a:t>ASSISTANT PROFESSOR,</a:t>
            </a:r>
          </a:p>
          <a:p>
            <a:pPr marL="48260" marR="5080" indent="-36195">
              <a:lnSpc>
                <a:spcPct val="123000"/>
              </a:lnSpc>
              <a:spcBef>
                <a:spcPts val="100"/>
              </a:spcBef>
            </a:pPr>
            <a:r>
              <a:rPr lang="en-IN" sz="1400" b="1" spc="-10">
                <a:solidFill>
                  <a:srgbClr val="1E2C40"/>
                </a:solidFill>
                <a:latin typeface="Times New Roman" panose="02020603050405020304"/>
                <a:cs typeface="Times New Roman" panose="02020603050405020304"/>
              </a:rPr>
              <a:t>ECE, ANITS.</a:t>
            </a:r>
          </a:p>
        </p:txBody>
      </p:sp>
      <p:pic>
        <p:nvPicPr>
          <p:cNvPr id="9" name="object 9"/>
          <p:cNvPicPr/>
          <p:nvPr/>
        </p:nvPicPr>
        <p:blipFill>
          <a:blip r:embed="rId3" cstate="print"/>
          <a:stretch>
            <a:fillRect/>
          </a:stretch>
        </p:blipFill>
        <p:spPr>
          <a:xfrm>
            <a:off x="4159045" y="1632438"/>
            <a:ext cx="2723087" cy="1671237"/>
          </a:xfrm>
          <a:prstGeom prst="rect">
            <a:avLst/>
          </a:prstGeom>
        </p:spPr>
      </p:pic>
      <p:sp>
        <p:nvSpPr>
          <p:cNvPr id="10" name="object 10"/>
          <p:cNvSpPr txBox="1">
            <a:spLocks noGrp="1"/>
          </p:cNvSpPr>
          <p:nvPr>
            <p:ph type="title"/>
          </p:nvPr>
        </p:nvSpPr>
        <p:spPr>
          <a:xfrm>
            <a:off x="2406316" y="3570138"/>
            <a:ext cx="7222505" cy="321242"/>
          </a:xfrm>
          <a:prstGeom prst="rect">
            <a:avLst/>
          </a:prstGeom>
        </p:spPr>
        <p:txBody>
          <a:bodyPr vert="horz" wrap="square" lIns="0" tIns="13335" rIns="0" bIns="0" rtlCol="0">
            <a:spAutoFit/>
          </a:bodyPr>
          <a:lstStyle/>
          <a:p>
            <a:pPr marL="12700">
              <a:lnSpc>
                <a:spcPct val="100000"/>
              </a:lnSpc>
              <a:spcBef>
                <a:spcPts val="105"/>
              </a:spcBef>
            </a:pPr>
            <a:r>
              <a:rPr sz="2000" b="1" u="none">
                <a:latin typeface="Times New Roman" panose="02020603050405020304" pitchFamily="18" charset="0"/>
                <a:cs typeface="Times New Roman" panose="02020603050405020304" pitchFamily="18" charset="0"/>
              </a:rPr>
              <a:t>Department</a:t>
            </a:r>
            <a:r>
              <a:rPr sz="2000" b="1" u="none" spc="-45">
                <a:latin typeface="Times New Roman" panose="02020603050405020304" pitchFamily="18" charset="0"/>
                <a:cs typeface="Times New Roman" panose="02020603050405020304" pitchFamily="18" charset="0"/>
              </a:rPr>
              <a:t> </a:t>
            </a:r>
            <a:r>
              <a:rPr sz="2000" b="1" u="none">
                <a:latin typeface="Times New Roman" panose="02020603050405020304" pitchFamily="18" charset="0"/>
                <a:cs typeface="Times New Roman" panose="02020603050405020304" pitchFamily="18" charset="0"/>
              </a:rPr>
              <a:t>of</a:t>
            </a:r>
            <a:r>
              <a:rPr sz="2000" b="1" u="none" spc="-45">
                <a:latin typeface="Times New Roman" panose="02020603050405020304" pitchFamily="18" charset="0"/>
                <a:cs typeface="Times New Roman" panose="02020603050405020304" pitchFamily="18" charset="0"/>
              </a:rPr>
              <a:t> </a:t>
            </a:r>
            <a:r>
              <a:rPr sz="2000" b="1" u="none">
                <a:latin typeface="Times New Roman" panose="02020603050405020304" pitchFamily="18" charset="0"/>
                <a:cs typeface="Times New Roman" panose="02020603050405020304" pitchFamily="18" charset="0"/>
              </a:rPr>
              <a:t>Electronics</a:t>
            </a:r>
            <a:r>
              <a:rPr sz="2000" b="1" u="none" spc="-45">
                <a:latin typeface="Times New Roman" panose="02020603050405020304" pitchFamily="18" charset="0"/>
                <a:cs typeface="Times New Roman" panose="02020603050405020304" pitchFamily="18" charset="0"/>
              </a:rPr>
              <a:t> </a:t>
            </a:r>
            <a:r>
              <a:rPr sz="2000" b="1" u="none">
                <a:latin typeface="Times New Roman" panose="02020603050405020304" pitchFamily="18" charset="0"/>
                <a:cs typeface="Times New Roman" panose="02020603050405020304" pitchFamily="18" charset="0"/>
              </a:rPr>
              <a:t>and</a:t>
            </a:r>
            <a:r>
              <a:rPr sz="2000" b="1" u="none" spc="409">
                <a:latin typeface="Times New Roman" panose="02020603050405020304" pitchFamily="18" charset="0"/>
                <a:cs typeface="Times New Roman" panose="02020603050405020304" pitchFamily="18" charset="0"/>
              </a:rPr>
              <a:t> </a:t>
            </a:r>
            <a:r>
              <a:rPr sz="2000" b="1" u="none">
                <a:latin typeface="Times New Roman" panose="02020603050405020304" pitchFamily="18" charset="0"/>
                <a:cs typeface="Times New Roman" panose="02020603050405020304" pitchFamily="18" charset="0"/>
              </a:rPr>
              <a:t>Communication</a:t>
            </a:r>
            <a:r>
              <a:rPr sz="2000" b="1" u="none" spc="-50">
                <a:latin typeface="Times New Roman" panose="02020603050405020304" pitchFamily="18" charset="0"/>
                <a:cs typeface="Times New Roman" panose="02020603050405020304" pitchFamily="18" charset="0"/>
              </a:rPr>
              <a:t> </a:t>
            </a:r>
            <a:r>
              <a:rPr sz="2000" b="1" u="none" spc="-10">
                <a:latin typeface="Times New Roman" panose="02020603050405020304" pitchFamily="18" charset="0"/>
                <a:cs typeface="Times New Roman" panose="02020603050405020304" pitchFamily="18" charset="0"/>
              </a:rPr>
              <a:t>Engineering</a:t>
            </a:r>
            <a:endParaRPr sz="2000">
              <a:latin typeface="Times New Roman" panose="02020603050405020304" pitchFamily="18" charset="0"/>
              <a:cs typeface="Times New Roman" panose="02020603050405020304" pitchFamily="18" charset="0"/>
            </a:endParaRPr>
          </a:p>
        </p:txBody>
      </p:sp>
      <p:sp>
        <p:nvSpPr>
          <p:cNvPr id="11" name="object 11"/>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a:endParaRPr/>
          </a:p>
        </p:txBody>
      </p:sp>
      <p:sp>
        <p:nvSpPr>
          <p:cNvPr id="13" name="TextBox 12"/>
          <p:cNvSpPr txBox="1"/>
          <p:nvPr/>
        </p:nvSpPr>
        <p:spPr>
          <a:xfrm>
            <a:off x="1141331" y="18605"/>
            <a:ext cx="9607012" cy="1569660"/>
          </a:xfrm>
          <a:prstGeom prst="rect">
            <a:avLst/>
          </a:prstGeom>
          <a:noFill/>
        </p:spPr>
        <p:txBody>
          <a:bodyPr wrap="square" lIns="91440" tIns="45720" rIns="91440" bIns="45720" anchor="t">
            <a:spAutoFit/>
          </a:bodyPr>
          <a:lstStyle/>
          <a:p>
            <a:pPr algn="ctr">
              <a:defRPr/>
            </a:pPr>
            <a:r>
              <a:rPr lang="en-US" sz="3200" b="1">
                <a:latin typeface="+mn-lt"/>
              </a:rPr>
              <a:t>DETECTION</a:t>
            </a:r>
            <a:r>
              <a:rPr lang="en-US" sz="3200" b="1"/>
              <a:t> AND CLASSIFICATION</a:t>
            </a:r>
            <a:r>
              <a:rPr lang="en-GB" sz="3200" b="1"/>
              <a:t> OF DIABETIC RETINOPATHY</a:t>
            </a:r>
            <a:r>
              <a:rPr lang="en-US" sz="3200" b="1"/>
              <a:t> THROUGH HEMORRHAGES SEGMENTATION USING CNN</a:t>
            </a:r>
            <a:endParaRPr lang="en-US" sz="3200" b="1">
              <a:effectLst/>
              <a:latin typeface="+mn-lt"/>
              <a:ea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1448" y="-1407"/>
            <a:ext cx="10982632" cy="1325563"/>
          </a:xfrm>
        </p:spPr>
        <p:txBody>
          <a:bodyPr>
            <a:normAutofit/>
          </a:bodyPr>
          <a:lstStyle/>
          <a:p>
            <a:r>
              <a:rPr lang="en-US"/>
              <a:t>                             </a:t>
            </a:r>
            <a:r>
              <a:rPr lang="en-US" b="1" u="sng">
                <a:latin typeface="Times New Roman"/>
                <a:cs typeface="Times New Roman"/>
              </a:rPr>
              <a:t>ABSTRACT</a:t>
            </a:r>
            <a:endParaRPr lang="en-IN" b="1" u="sng">
              <a:latin typeface="Times New Roman"/>
              <a:cs typeface="Times New Roman"/>
            </a:endParaRPr>
          </a:p>
        </p:txBody>
      </p:sp>
      <p:sp>
        <p:nvSpPr>
          <p:cNvPr id="3" name="Subtitle 2"/>
          <p:cNvSpPr>
            <a:spLocks noGrp="1"/>
          </p:cNvSpPr>
          <p:nvPr>
            <p:ph idx="1"/>
          </p:nvPr>
        </p:nvSpPr>
        <p:spPr>
          <a:xfrm>
            <a:off x="319075" y="1075061"/>
            <a:ext cx="11269837" cy="5786085"/>
          </a:xfrm>
        </p:spPr>
        <p:txBody>
          <a:bodyPr vert="horz" lIns="91440" tIns="45720" rIns="91440" bIns="45720" rtlCol="0" anchor="t">
            <a:normAutofit/>
          </a:bodyPr>
          <a:lstStyle/>
          <a:p>
            <a:pPr marL="0" indent="0" algn="just">
              <a:buNone/>
            </a:pPr>
            <a:r>
              <a:rPr lang="en-US">
                <a:solidFill>
                  <a:srgbClr val="000000"/>
                </a:solidFill>
                <a:effectLst/>
                <a:latin typeface="Times New Roman" panose="02020603050405020304" pitchFamily="18" charset="0"/>
                <a:ea typeface="SimSun" panose="02010600030101010101" pitchFamily="2" charset="-122"/>
              </a:rPr>
              <a:t>Diabetic retinopathy (DR) is a complication of diabetes that</a:t>
            </a:r>
            <a:r>
              <a:rPr lang="en-US">
                <a:solidFill>
                  <a:srgbClr val="FF0000"/>
                </a:solidFill>
                <a:effectLst/>
                <a:latin typeface="Times New Roman" panose="02020603050405020304" pitchFamily="18" charset="0"/>
                <a:ea typeface="SimSun" panose="02010600030101010101" pitchFamily="2" charset="-122"/>
              </a:rPr>
              <a:t> </a:t>
            </a:r>
            <a:r>
              <a:rPr lang="en-US">
                <a:solidFill>
                  <a:srgbClr val="000000"/>
                </a:solidFill>
                <a:effectLst/>
                <a:latin typeface="Times New Roman" panose="02020603050405020304" pitchFamily="18" charset="0"/>
                <a:ea typeface="SimSun" panose="02010600030101010101" pitchFamily="2" charset="-122"/>
              </a:rPr>
              <a:t>can damage both the retina and other small blood vessels throughout the body. Hemorrhages are symptoms that occurs in the moderate stage of DR. Accurate and reliable detection of Hemorrhages in </a:t>
            </a:r>
            <a:r>
              <a:rPr lang="en-US" err="1">
                <a:solidFill>
                  <a:srgbClr val="000000"/>
                </a:solidFill>
                <a:effectLst/>
                <a:latin typeface="Times New Roman" panose="02020603050405020304" pitchFamily="18" charset="0"/>
                <a:ea typeface="SimSun" panose="02010600030101010101" pitchFamily="2" charset="-122"/>
              </a:rPr>
              <a:t>colour</a:t>
            </a:r>
            <a:r>
              <a:rPr lang="en-US">
                <a:solidFill>
                  <a:srgbClr val="000000"/>
                </a:solidFill>
                <a:effectLst/>
                <a:latin typeface="Times New Roman" panose="02020603050405020304" pitchFamily="18" charset="0"/>
                <a:ea typeface="SimSun" panose="02010600030101010101" pitchFamily="2" charset="-122"/>
              </a:rPr>
              <a:t> fundus images has great importance for DR screening. This project investigates 2D CNN algorithm approach for detecting retinal hemorrhages using the APTOS 2019 Blindness Detection dataset. This implementation process involves five stages. During the first stage, the input image is pre-processed by CLAHE, secondly optic disc identification &amp; removal is performed by Contour detection and thresholding techniques, third stage is blood vessel segmentation using the </a:t>
            </a:r>
            <a:r>
              <a:rPr lang="en-US" err="1">
                <a:solidFill>
                  <a:srgbClr val="000000"/>
                </a:solidFill>
                <a:effectLst/>
                <a:latin typeface="Times New Roman" panose="02020603050405020304" pitchFamily="18" charset="0"/>
                <a:ea typeface="SimSun" panose="02010600030101010101" pitchFamily="2" charset="-122"/>
              </a:rPr>
              <a:t>Frangi</a:t>
            </a:r>
            <a:r>
              <a:rPr lang="en-US">
                <a:solidFill>
                  <a:srgbClr val="000000"/>
                </a:solidFill>
                <a:effectLst/>
                <a:latin typeface="Times New Roman" panose="02020603050405020304" pitchFamily="18" charset="0"/>
                <a:ea typeface="SimSun" panose="02010600030101010101" pitchFamily="2" charset="-122"/>
              </a:rPr>
              <a:t> Filter, fourth stage is hemorrhages segmentation by contour detection, and final stage is CNN classification. The results obtained by this approach are 97%-accuracy, 95%-sensitivity, 98%-specificity, and 97%-precision.</a:t>
            </a:r>
            <a:endParaRPr lang="en-US">
              <a:latin typeface="Times New Roman"/>
              <a:ea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4405" y="117987"/>
            <a:ext cx="10762539" cy="686469"/>
          </a:xfrm>
          <a:prstGeom prst="rect">
            <a:avLst/>
          </a:prstGeom>
        </p:spPr>
        <p:txBody>
          <a:bodyPr vert="horz" wrap="square" lIns="0" tIns="131190" rIns="0" bIns="0" rtlCol="0">
            <a:spAutoFit/>
          </a:bodyPr>
          <a:lstStyle/>
          <a:p>
            <a:pPr marL="3942080" algn="just">
              <a:lnSpc>
                <a:spcPct val="100000"/>
              </a:lnSpc>
              <a:spcBef>
                <a:spcPts val="100"/>
              </a:spcBef>
            </a:pPr>
            <a:r>
              <a:rPr sz="3600" b="1" u="sng" spc="-20">
                <a:latin typeface="Times New Roman"/>
                <a:cs typeface="Times New Roman"/>
              </a:rPr>
              <a:t>M</a:t>
            </a:r>
            <a:r>
              <a:rPr lang="en-IN" sz="3600" b="1" u="sng" spc="-20">
                <a:latin typeface="Times New Roman"/>
                <a:cs typeface="Times New Roman"/>
              </a:rPr>
              <a:t>ETHODOLOGY</a:t>
            </a:r>
            <a:endParaRPr lang="en-US" sz="3600" b="1" u="sng">
              <a:latin typeface="Times New Roman"/>
              <a:cs typeface="Times New Roman"/>
            </a:endParaRPr>
          </a:p>
        </p:txBody>
      </p:sp>
      <p:pic>
        <p:nvPicPr>
          <p:cNvPr id="6" name="Picture 5" descr="A diagram of a medical procedure&#10;&#10;AI-generated content may be incorrect.">
            <a:extLst>
              <a:ext uri="{FF2B5EF4-FFF2-40B4-BE49-F238E27FC236}">
                <a16:creationId xmlns:a16="http://schemas.microsoft.com/office/drawing/2014/main" id="{9C1AFDB5-FF0D-A426-7714-6FB9AD39721E}"/>
              </a:ext>
            </a:extLst>
          </p:cNvPr>
          <p:cNvPicPr>
            <a:picLocks noChangeAspect="1"/>
          </p:cNvPicPr>
          <p:nvPr/>
        </p:nvPicPr>
        <p:blipFill>
          <a:blip r:embed="rId2"/>
          <a:stretch>
            <a:fillRect/>
          </a:stretch>
        </p:blipFill>
        <p:spPr>
          <a:xfrm>
            <a:off x="907027" y="891396"/>
            <a:ext cx="10363568" cy="596660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10065" y="239150"/>
            <a:ext cx="10515600" cy="981118"/>
          </a:xfrm>
        </p:spPr>
        <p:txBody>
          <a:bodyPr>
            <a:normAutofit fontScale="90000"/>
          </a:bodyPr>
          <a:lstStyle/>
          <a:p>
            <a:pPr algn="ctr"/>
            <a:r>
              <a:rPr lang="en-IN" altLang="en-US" b="1">
                <a:solidFill>
                  <a:schemeClr val="bg2">
                    <a:lumMod val="10000"/>
                  </a:schemeClr>
                </a:solidFill>
                <a:latin typeface="Tw Cen MT" pitchFamily="34" charset="0"/>
              </a:rPr>
              <a:t> </a:t>
            </a:r>
            <a:r>
              <a:rPr lang="en-IN" altLang="en-US" sz="3200" b="1" u="sng">
                <a:solidFill>
                  <a:schemeClr val="bg2">
                    <a:lumMod val="10000"/>
                  </a:schemeClr>
                </a:solidFill>
                <a:latin typeface="Tw Cen MT" pitchFamily="34" charset="0"/>
              </a:rPr>
              <a:t>FUNDUS IMAGES</a:t>
            </a:r>
            <a:br>
              <a:rPr lang="en-IN" altLang="en-US" sz="3200" b="1" u="sng">
                <a:solidFill>
                  <a:schemeClr val="bg2">
                    <a:lumMod val="10000"/>
                  </a:schemeClr>
                </a:solidFill>
                <a:latin typeface="Tw Cen MT" pitchFamily="34" charset="0"/>
              </a:rPr>
            </a:br>
            <a:r>
              <a:rPr lang="en-IN" sz="3200" b="1">
                <a:solidFill>
                  <a:schemeClr val="bg2">
                    <a:lumMod val="10000"/>
                  </a:schemeClr>
                </a:solidFill>
                <a:latin typeface="Tw Cen MT" pitchFamily="34" charset="0"/>
              </a:rPr>
              <a:t>(APTOS-2019 DATASET)</a:t>
            </a:r>
            <a:endParaRPr lang="en-IN" altLang="en-US" b="1" u="sng">
              <a:solidFill>
                <a:schemeClr val="bg2">
                  <a:lumMod val="10000"/>
                </a:schemeClr>
              </a:solidFill>
              <a:latin typeface="Tw Cen MT" pitchFamily="34" charset="0"/>
              <a:ea typeface="Calibri Light"/>
              <a:cs typeface="Calibri Light"/>
            </a:endParaRPr>
          </a:p>
        </p:txBody>
      </p:sp>
      <p:sp>
        <p:nvSpPr>
          <p:cNvPr id="5" name="Content Placeholder 4"/>
          <p:cNvSpPr>
            <a:spLocks noGrp="1"/>
          </p:cNvSpPr>
          <p:nvPr>
            <p:ph idx="1"/>
          </p:nvPr>
        </p:nvSpPr>
        <p:spPr>
          <a:xfrm>
            <a:off x="795997" y="1171045"/>
            <a:ext cx="10515600" cy="3522152"/>
          </a:xfrm>
        </p:spPr>
        <p:txBody>
          <a:bodyPr vert="horz" lIns="91440" tIns="45720" rIns="91440" bIns="45720" rtlCol="0" anchor="t">
            <a:normAutofit fontScale="92500" lnSpcReduction="10000"/>
          </a:bodyPr>
          <a:lstStyle/>
          <a:p>
            <a:pPr algn="just"/>
            <a:r>
              <a:rPr lang="en-IN">
                <a:latin typeface="Times New Roman" pitchFamily="18" charset="0"/>
                <a:cs typeface="Times New Roman" pitchFamily="18" charset="0"/>
              </a:rPr>
              <a:t>Asia Pacific Tele-Ophthalmology Society 2019 Blindness Detection (APTOS 2019 BD) dataset comprises 3292 samples gathered from several people in India.  </a:t>
            </a:r>
          </a:p>
          <a:p>
            <a:pPr algn="just"/>
            <a:r>
              <a:rPr lang="en-IN">
                <a:latin typeface="Times New Roman" pitchFamily="18" charset="0"/>
                <a:cs typeface="Times New Roman" pitchFamily="18" charset="0"/>
              </a:rPr>
              <a:t>These Fundus images were taken over an extended period of time in a variety of situations and conditions. </a:t>
            </a:r>
          </a:p>
          <a:p>
            <a:pPr algn="just"/>
            <a:r>
              <a:rPr lang="en-IN" altLang="en-US">
                <a:latin typeface="Times New Roman" pitchFamily="18" charset="0"/>
                <a:cs typeface="Times New Roman" pitchFamily="18" charset="0"/>
              </a:rPr>
              <a:t>Out of 3292, 1487 images are with lesion(</a:t>
            </a:r>
            <a:r>
              <a:rPr lang="en-IN" altLang="en-US" err="1">
                <a:latin typeface="Times New Roman" pitchFamily="18" charset="0"/>
                <a:cs typeface="Times New Roman" pitchFamily="18" charset="0"/>
              </a:rPr>
              <a:t>Hemorrhages</a:t>
            </a:r>
            <a:r>
              <a:rPr lang="en-IN" altLang="en-US">
                <a:latin typeface="Times New Roman" pitchFamily="18" charset="0"/>
                <a:cs typeface="Times New Roman" pitchFamily="18" charset="0"/>
              </a:rPr>
              <a:t>) and 1805 images with no </a:t>
            </a:r>
            <a:r>
              <a:rPr lang="en-IN" altLang="en-US" err="1">
                <a:latin typeface="Times New Roman" pitchFamily="18" charset="0"/>
                <a:cs typeface="Times New Roman" pitchFamily="18" charset="0"/>
              </a:rPr>
              <a:t>Hemorrhages</a:t>
            </a:r>
            <a:r>
              <a:rPr lang="en-IN" altLang="en-US">
                <a:latin typeface="Times New Roman" pitchFamily="18" charset="0"/>
                <a:cs typeface="Times New Roman" pitchFamily="18" charset="0"/>
              </a:rPr>
              <a:t> images.</a:t>
            </a:r>
            <a:endParaRPr lang="en-IN">
              <a:latin typeface="Times New Roman" pitchFamily="18" charset="0"/>
              <a:cs typeface="Times New Roman" pitchFamily="18" charset="0"/>
            </a:endParaRPr>
          </a:p>
          <a:p>
            <a:pPr algn="just"/>
            <a:r>
              <a:rPr lang="en-US">
                <a:latin typeface="Times New Roman" pitchFamily="18" charset="0"/>
                <a:cs typeface="Times New Roman" pitchFamily="18" charset="0"/>
              </a:rPr>
              <a:t>Dataset link: https://www.kaggle.com/datasets/mariaherrerot/aptos2019</a:t>
            </a:r>
          </a:p>
          <a:p>
            <a:pPr algn="just"/>
            <a:r>
              <a:rPr lang="en-US">
                <a:latin typeface="Times New Roman" pitchFamily="18" charset="0"/>
                <a:cs typeface="Times New Roman" pitchFamily="18" charset="0"/>
              </a:rPr>
              <a:t>Some of the Images are</a:t>
            </a:r>
          </a:p>
          <a:p>
            <a:pPr>
              <a:buFont typeface="Arial" panose="020B0604020202020204" pitchFamily="34" charset="0"/>
              <a:buChar char="•"/>
            </a:pPr>
            <a:endParaRPr lang="en-IN" altLang="en-US">
              <a:latin typeface="Times New Roman"/>
              <a:cs typeface="Times New Roman"/>
            </a:endParaRPr>
          </a:p>
        </p:txBody>
      </p:sp>
      <p:sp>
        <p:nvSpPr>
          <p:cNvPr id="2" name="TextBox 1">
            <a:extLst>
              <a:ext uri="{FF2B5EF4-FFF2-40B4-BE49-F238E27FC236}">
                <a16:creationId xmlns:a16="http://schemas.microsoft.com/office/drawing/2014/main" id="{0C13E788-03ED-B5EF-916C-BD7E7400CE9F}"/>
              </a:ext>
            </a:extLst>
          </p:cNvPr>
          <p:cNvSpPr txBox="1"/>
          <p:nvPr/>
        </p:nvSpPr>
        <p:spPr>
          <a:xfrm>
            <a:off x="2499968" y="6313069"/>
            <a:ext cx="407894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Times New Roman"/>
                <a:ea typeface="Calibri"/>
                <a:cs typeface="Calibri"/>
              </a:rPr>
              <a:t>A)</a:t>
            </a:r>
            <a:r>
              <a:rPr lang="en-US">
                <a:latin typeface="Times New Roman"/>
                <a:ea typeface="Calibri"/>
                <a:cs typeface="Calibri"/>
              </a:rPr>
              <a:t>  No Hemorrhages</a:t>
            </a:r>
            <a:endParaRPr lang="en-US">
              <a:latin typeface="Times New Roman"/>
            </a:endParaRPr>
          </a:p>
        </p:txBody>
      </p:sp>
      <p:sp>
        <p:nvSpPr>
          <p:cNvPr id="11" name="TextBox 10">
            <a:extLst>
              <a:ext uri="{FF2B5EF4-FFF2-40B4-BE49-F238E27FC236}">
                <a16:creationId xmlns:a16="http://schemas.microsoft.com/office/drawing/2014/main" id="{7056DB05-A455-64F2-1A54-E78CDF8EAC37}"/>
              </a:ext>
            </a:extLst>
          </p:cNvPr>
          <p:cNvSpPr txBox="1"/>
          <p:nvPr/>
        </p:nvSpPr>
        <p:spPr>
          <a:xfrm>
            <a:off x="7879920" y="6317016"/>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Times New Roman"/>
                <a:ea typeface="Calibri"/>
                <a:cs typeface="Calibri"/>
              </a:rPr>
              <a:t>B)  </a:t>
            </a:r>
            <a:r>
              <a:rPr lang="en-US">
                <a:latin typeface="Times New Roman"/>
                <a:ea typeface="Calibri"/>
                <a:cs typeface="Calibri"/>
              </a:rPr>
              <a:t>Hemorrhages</a:t>
            </a:r>
            <a:endParaRPr lang="en-US">
              <a:latin typeface="Times New Roman"/>
            </a:endParaRPr>
          </a:p>
        </p:txBody>
      </p:sp>
      <p:pic>
        <p:nvPicPr>
          <p:cNvPr id="6" name="Picture 5">
            <a:extLst>
              <a:ext uri="{FF2B5EF4-FFF2-40B4-BE49-F238E27FC236}">
                <a16:creationId xmlns:a16="http://schemas.microsoft.com/office/drawing/2014/main" id="{0D4B056E-8A8D-1524-DACF-D0125ED31D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821" y="4622859"/>
            <a:ext cx="2303910" cy="1694158"/>
          </a:xfrm>
          <a:prstGeom prst="rect">
            <a:avLst/>
          </a:prstGeom>
        </p:spPr>
      </p:pic>
      <p:pic>
        <p:nvPicPr>
          <p:cNvPr id="13" name="Picture 12">
            <a:extLst>
              <a:ext uri="{FF2B5EF4-FFF2-40B4-BE49-F238E27FC236}">
                <a16:creationId xmlns:a16="http://schemas.microsoft.com/office/drawing/2014/main" id="{7CE63E9B-B65F-FDC6-FE98-AC8691A988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16321" y="4618305"/>
            <a:ext cx="2214161" cy="1694158"/>
          </a:xfrm>
          <a:prstGeom prst="rect">
            <a:avLst/>
          </a:prstGeom>
        </p:spPr>
      </p:pic>
      <p:pic>
        <p:nvPicPr>
          <p:cNvPr id="15" name="Picture 14">
            <a:extLst>
              <a:ext uri="{FF2B5EF4-FFF2-40B4-BE49-F238E27FC236}">
                <a16:creationId xmlns:a16="http://schemas.microsoft.com/office/drawing/2014/main" id="{1D80E01D-A695-C5A3-EFF8-E708B43A952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16730" y="4616635"/>
            <a:ext cx="2245988" cy="1694158"/>
          </a:xfrm>
          <a:prstGeom prst="rect">
            <a:avLst/>
          </a:prstGeom>
        </p:spPr>
      </p:pic>
      <p:pic>
        <p:nvPicPr>
          <p:cNvPr id="17" name="Picture 16">
            <a:extLst>
              <a:ext uri="{FF2B5EF4-FFF2-40B4-BE49-F238E27FC236}">
                <a16:creationId xmlns:a16="http://schemas.microsoft.com/office/drawing/2014/main" id="{188E0348-4DC2-B16E-0E8C-39AEB26897D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40917" y="4616635"/>
            <a:ext cx="2303911" cy="169415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2664686" y="7396470"/>
            <a:ext cx="916713" cy="462856"/>
          </a:xfrm>
        </p:spPr>
        <p:txBody>
          <a:bodyPr/>
          <a:lstStyle/>
          <a:p>
            <a:pPr>
              <a:defRPr/>
            </a:pPr>
            <a:endParaRPr lang="en-US">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pPr>
              <a:defRPr/>
            </a:pPr>
            <a:fld id="{ACCDA392-B217-C946-B61D-1E0777F92007}" type="slidenum">
              <a:rPr lang="en-US" smtClean="0">
                <a:latin typeface="Times New Roman" pitchFamily="18" charset="0"/>
                <a:cs typeface="Times New Roman" pitchFamily="18" charset="0"/>
              </a:rPr>
              <a:pPr>
                <a:defRPr/>
              </a:pPr>
              <a:t>5</a:t>
            </a:fld>
            <a:endParaRPr lang="en-US">
              <a:latin typeface="Times New Roman" pitchFamily="18" charset="0"/>
              <a:cs typeface="Times New Roman" pitchFamily="18" charset="0"/>
            </a:endParaRPr>
          </a:p>
        </p:txBody>
      </p:sp>
      <p:sp>
        <p:nvSpPr>
          <p:cNvPr id="9" name="Text 4"/>
          <p:cNvSpPr/>
          <p:nvPr/>
        </p:nvSpPr>
        <p:spPr>
          <a:xfrm>
            <a:off x="985739" y="1885158"/>
            <a:ext cx="105768" cy="290413"/>
          </a:xfrm>
          <a:prstGeom prst="rect">
            <a:avLst/>
          </a:prstGeom>
          <a:noFill/>
          <a:ln/>
        </p:spPr>
        <p:txBody>
          <a:bodyPr wrap="none" lIns="64008" tIns="32004" rIns="64008" bIns="32004" rtlCol="0" anchor="t"/>
          <a:lstStyle/>
          <a:p>
            <a:pPr algn="ctr">
              <a:lnSpc>
                <a:spcPts val="1921"/>
              </a:lnSpc>
            </a:pPr>
            <a:r>
              <a:rPr lang="en-US" sz="3200">
                <a:solidFill>
                  <a:schemeClr val="bg1"/>
                </a:solidFill>
                <a:latin typeface="Times New Roman" pitchFamily="18" charset="0"/>
                <a:ea typeface="Lora" pitchFamily="34" charset="-122"/>
                <a:cs typeface="Times New Roman" pitchFamily="18" charset="0"/>
              </a:rPr>
              <a:t>1</a:t>
            </a:r>
            <a:endParaRPr lang="en-US" sz="3200">
              <a:solidFill>
                <a:schemeClr val="bg1"/>
              </a:solidFill>
              <a:latin typeface="Times New Roman" pitchFamily="18" charset="0"/>
              <a:cs typeface="Times New Roman" pitchFamily="18" charset="0"/>
            </a:endParaRPr>
          </a:p>
        </p:txBody>
      </p:sp>
      <p:sp>
        <p:nvSpPr>
          <p:cNvPr id="13" name="Text 8"/>
          <p:cNvSpPr/>
          <p:nvPr/>
        </p:nvSpPr>
        <p:spPr>
          <a:xfrm>
            <a:off x="4608050" y="1567658"/>
            <a:ext cx="155972" cy="290413"/>
          </a:xfrm>
          <a:prstGeom prst="rect">
            <a:avLst/>
          </a:prstGeom>
          <a:noFill/>
          <a:ln/>
        </p:spPr>
        <p:txBody>
          <a:bodyPr wrap="none" lIns="64008" tIns="32004" rIns="64008" bIns="32004" rtlCol="0" anchor="t"/>
          <a:lstStyle/>
          <a:p>
            <a:pPr algn="ctr">
              <a:lnSpc>
                <a:spcPts val="1921"/>
              </a:lnSpc>
            </a:pPr>
            <a:r>
              <a:rPr lang="en-US" sz="2400">
                <a:solidFill>
                  <a:schemeClr val="bg1"/>
                </a:solidFill>
                <a:latin typeface="Times New Roman" pitchFamily="18" charset="0"/>
                <a:cs typeface="Times New Roman" pitchFamily="18" charset="0"/>
              </a:rPr>
              <a:t>1</a:t>
            </a:r>
          </a:p>
        </p:txBody>
      </p:sp>
      <p:sp>
        <p:nvSpPr>
          <p:cNvPr id="16" name="Shape 11"/>
          <p:cNvSpPr/>
          <p:nvPr/>
        </p:nvSpPr>
        <p:spPr>
          <a:xfrm>
            <a:off x="849448" y="1418550"/>
            <a:ext cx="462856" cy="462856"/>
          </a:xfrm>
          <a:prstGeom prst="roundRect">
            <a:avLst>
              <a:gd name="adj" fmla="val 13335"/>
            </a:avLst>
          </a:prstGeom>
          <a:solidFill>
            <a:srgbClr val="363A4A"/>
          </a:solidFill>
          <a:ln/>
        </p:spPr>
      </p:sp>
      <p:sp>
        <p:nvSpPr>
          <p:cNvPr id="17" name="Text 12"/>
          <p:cNvSpPr/>
          <p:nvPr/>
        </p:nvSpPr>
        <p:spPr>
          <a:xfrm>
            <a:off x="1028099" y="1490705"/>
            <a:ext cx="161825" cy="290413"/>
          </a:xfrm>
          <a:prstGeom prst="rect">
            <a:avLst/>
          </a:prstGeom>
          <a:noFill/>
          <a:ln/>
        </p:spPr>
        <p:txBody>
          <a:bodyPr wrap="none" lIns="64008" tIns="32004" rIns="64008" bIns="32004" rtlCol="0" anchor="t"/>
          <a:lstStyle/>
          <a:p>
            <a:pPr algn="ctr">
              <a:lnSpc>
                <a:spcPts val="1921"/>
              </a:lnSpc>
            </a:pPr>
            <a:r>
              <a:rPr lang="en-US" sz="2400">
                <a:solidFill>
                  <a:schemeClr val="bg1"/>
                </a:solidFill>
                <a:latin typeface="Times New Roman" pitchFamily="18" charset="0"/>
                <a:ea typeface="Lora" pitchFamily="34" charset="-122"/>
                <a:cs typeface="Times New Roman" pitchFamily="18" charset="0"/>
              </a:rPr>
              <a:t>1</a:t>
            </a:r>
            <a:endParaRPr lang="en-US" sz="2400">
              <a:solidFill>
                <a:schemeClr val="bg1"/>
              </a:solidFill>
              <a:latin typeface="Times New Roman" pitchFamily="18" charset="0"/>
              <a:cs typeface="Times New Roman" pitchFamily="18" charset="0"/>
            </a:endParaRPr>
          </a:p>
        </p:txBody>
      </p:sp>
      <p:sp>
        <p:nvSpPr>
          <p:cNvPr id="18" name="Text 13"/>
          <p:cNvSpPr/>
          <p:nvPr/>
        </p:nvSpPr>
        <p:spPr>
          <a:xfrm>
            <a:off x="1517984" y="1460753"/>
            <a:ext cx="2420441" cy="302618"/>
          </a:xfrm>
          <a:prstGeom prst="rect">
            <a:avLst/>
          </a:prstGeom>
          <a:noFill/>
          <a:ln/>
        </p:spPr>
        <p:txBody>
          <a:bodyPr wrap="none" lIns="64008" tIns="32004" rIns="64008" bIns="32004" rtlCol="0" anchor="t"/>
          <a:lstStyle/>
          <a:p>
            <a:pPr>
              <a:lnSpc>
                <a:spcPts val="2001"/>
              </a:lnSpc>
            </a:pPr>
            <a:r>
              <a:rPr lang="en-US" sz="2800" b="1">
                <a:latin typeface="Times New Roman" pitchFamily="18" charset="0"/>
                <a:ea typeface="Lora" pitchFamily="34" charset="-122"/>
                <a:cs typeface="Times New Roman" pitchFamily="18" charset="0"/>
              </a:rPr>
              <a:t>Image Conversion</a:t>
            </a:r>
            <a:endParaRPr lang="en-US" sz="2800" b="1">
              <a:latin typeface="Times New Roman" pitchFamily="18" charset="0"/>
              <a:cs typeface="Times New Roman" pitchFamily="18" charset="0"/>
            </a:endParaRPr>
          </a:p>
        </p:txBody>
      </p:sp>
      <p:sp>
        <p:nvSpPr>
          <p:cNvPr id="19" name="Text 14"/>
          <p:cNvSpPr/>
          <p:nvPr/>
        </p:nvSpPr>
        <p:spPr>
          <a:xfrm>
            <a:off x="1475781" y="2013409"/>
            <a:ext cx="4517331" cy="987623"/>
          </a:xfrm>
          <a:prstGeom prst="rect">
            <a:avLst/>
          </a:prstGeom>
          <a:noFill/>
          <a:ln/>
        </p:spPr>
        <p:txBody>
          <a:bodyPr wrap="square" lIns="64008" tIns="32004" rIns="64008" bIns="32004" rtlCol="0" anchor="t"/>
          <a:lstStyle/>
          <a:p>
            <a:pPr algn="just">
              <a:lnSpc>
                <a:spcPts val="2177"/>
              </a:lnSpc>
            </a:pPr>
            <a:r>
              <a:rPr lang="en-US" sz="2800">
                <a:latin typeface="Times New Roman" pitchFamily="18" charset="0"/>
                <a:ea typeface="Source Sans Pro" pitchFamily="34" charset="-122"/>
                <a:cs typeface="Times New Roman" pitchFamily="18" charset="0"/>
              </a:rPr>
              <a:t>The acquired images are typically in color format. They are converted to grayscale to simplify processing and focus on relevant features.</a:t>
            </a:r>
            <a:endParaRPr lang="en-US" sz="2800">
              <a:latin typeface="Times New Roman" pitchFamily="18" charset="0"/>
              <a:cs typeface="Times New Roman" pitchFamily="18" charset="0"/>
            </a:endParaRPr>
          </a:p>
        </p:txBody>
      </p:sp>
      <p:sp>
        <p:nvSpPr>
          <p:cNvPr id="20" name="Shape 15"/>
          <p:cNvSpPr/>
          <p:nvPr/>
        </p:nvSpPr>
        <p:spPr>
          <a:xfrm>
            <a:off x="6269130" y="1404482"/>
            <a:ext cx="462856" cy="462856"/>
          </a:xfrm>
          <a:prstGeom prst="roundRect">
            <a:avLst>
              <a:gd name="adj" fmla="val 13335"/>
            </a:avLst>
          </a:prstGeom>
          <a:solidFill>
            <a:srgbClr val="363A4A"/>
          </a:solidFill>
          <a:ln/>
        </p:spPr>
      </p:sp>
      <p:sp>
        <p:nvSpPr>
          <p:cNvPr id="21" name="Text 16"/>
          <p:cNvSpPr/>
          <p:nvPr/>
        </p:nvSpPr>
        <p:spPr>
          <a:xfrm>
            <a:off x="6421828" y="1490705"/>
            <a:ext cx="157460" cy="290413"/>
          </a:xfrm>
          <a:prstGeom prst="rect">
            <a:avLst/>
          </a:prstGeom>
          <a:noFill/>
          <a:ln/>
        </p:spPr>
        <p:txBody>
          <a:bodyPr wrap="none" lIns="64008" tIns="32004" rIns="64008" bIns="32004" rtlCol="0" anchor="t"/>
          <a:lstStyle/>
          <a:p>
            <a:pPr algn="ctr">
              <a:lnSpc>
                <a:spcPts val="1921"/>
              </a:lnSpc>
            </a:pPr>
            <a:r>
              <a:rPr lang="en-US" sz="3200">
                <a:solidFill>
                  <a:schemeClr val="bg1"/>
                </a:solidFill>
                <a:latin typeface="Times New Roman" pitchFamily="18" charset="0"/>
                <a:cs typeface="Times New Roman" pitchFamily="18" charset="0"/>
              </a:rPr>
              <a:t>2</a:t>
            </a:r>
          </a:p>
        </p:txBody>
      </p:sp>
      <p:sp>
        <p:nvSpPr>
          <p:cNvPr id="22" name="Text 17"/>
          <p:cNvSpPr/>
          <p:nvPr/>
        </p:nvSpPr>
        <p:spPr>
          <a:xfrm>
            <a:off x="6937667" y="1404482"/>
            <a:ext cx="2420441" cy="302618"/>
          </a:xfrm>
          <a:prstGeom prst="rect">
            <a:avLst/>
          </a:prstGeom>
          <a:noFill/>
          <a:ln/>
        </p:spPr>
        <p:txBody>
          <a:bodyPr wrap="none" lIns="64008" tIns="32004" rIns="64008" bIns="32004" rtlCol="0" anchor="t"/>
          <a:lstStyle/>
          <a:p>
            <a:pPr>
              <a:lnSpc>
                <a:spcPts val="2001"/>
              </a:lnSpc>
            </a:pPr>
            <a:r>
              <a:rPr lang="en-US" sz="2800" b="1">
                <a:latin typeface="Times New Roman" pitchFamily="18" charset="0"/>
                <a:ea typeface="Lora" pitchFamily="34" charset="-122"/>
                <a:cs typeface="Times New Roman" pitchFamily="18" charset="0"/>
              </a:rPr>
              <a:t>Image Resizing</a:t>
            </a:r>
            <a:endParaRPr lang="en-US" sz="2800" b="1">
              <a:latin typeface="Times New Roman" pitchFamily="18" charset="0"/>
              <a:cs typeface="Times New Roman" pitchFamily="18" charset="0"/>
            </a:endParaRPr>
          </a:p>
        </p:txBody>
      </p:sp>
      <p:sp>
        <p:nvSpPr>
          <p:cNvPr id="23" name="Text 18"/>
          <p:cNvSpPr/>
          <p:nvPr/>
        </p:nvSpPr>
        <p:spPr>
          <a:xfrm>
            <a:off x="6780628" y="1830529"/>
            <a:ext cx="4674369" cy="987623"/>
          </a:xfrm>
          <a:prstGeom prst="rect">
            <a:avLst/>
          </a:prstGeom>
          <a:noFill/>
          <a:ln/>
        </p:spPr>
        <p:txBody>
          <a:bodyPr wrap="square" lIns="64008" tIns="32004" rIns="64008" bIns="32004" rtlCol="0" anchor="t"/>
          <a:lstStyle/>
          <a:p>
            <a:pPr algn="just">
              <a:lnSpc>
                <a:spcPts val="2177"/>
              </a:lnSpc>
            </a:pPr>
            <a:r>
              <a:rPr lang="en-US" sz="2800">
                <a:latin typeface="Times New Roman" pitchFamily="18" charset="0"/>
                <a:ea typeface="Source Sans Pro" pitchFamily="34" charset="-122"/>
                <a:cs typeface="Times New Roman" pitchFamily="18" charset="0"/>
              </a:rPr>
              <a:t>Images may need to be resized to a standard size for consistent processing and analysis across different patients and datasets.</a:t>
            </a:r>
          </a:p>
          <a:p>
            <a:pPr algn="just">
              <a:lnSpc>
                <a:spcPts val="2177"/>
              </a:lnSpc>
            </a:pPr>
            <a:r>
              <a:rPr lang="en-IN" altLang="en-US" sz="2800" b="1">
                <a:latin typeface="Times New Roman" pitchFamily="18" charset="0"/>
                <a:cs typeface="Times New Roman" pitchFamily="18" charset="0"/>
              </a:rPr>
              <a:t>Changes each image’s size to 224x224 pixels.</a:t>
            </a:r>
            <a:endParaRPr lang="en-US" sz="2800" b="1">
              <a:latin typeface="Times New Roman" pitchFamily="18" charset="0"/>
              <a:ea typeface="Source Sans Pro" pitchFamily="34" charset="-122"/>
              <a:cs typeface="Times New Roman" pitchFamily="18" charset="0"/>
            </a:endParaRPr>
          </a:p>
        </p:txBody>
      </p:sp>
      <p:sp>
        <p:nvSpPr>
          <p:cNvPr id="25" name="Rectangle 24"/>
          <p:cNvSpPr/>
          <p:nvPr/>
        </p:nvSpPr>
        <p:spPr>
          <a:xfrm>
            <a:off x="1313396" y="583618"/>
            <a:ext cx="4262705" cy="605294"/>
          </a:xfrm>
          <a:prstGeom prst="rect">
            <a:avLst/>
          </a:prstGeom>
        </p:spPr>
        <p:txBody>
          <a:bodyPr wrap="none">
            <a:spAutoFit/>
          </a:bodyPr>
          <a:lstStyle/>
          <a:p>
            <a:pPr>
              <a:lnSpc>
                <a:spcPts val="4003"/>
              </a:lnSpc>
            </a:pPr>
            <a:r>
              <a:rPr lang="en-US" sz="3600" b="1" u="sng">
                <a:solidFill>
                  <a:schemeClr val="bg2">
                    <a:lumMod val="10000"/>
                  </a:schemeClr>
                </a:solidFill>
                <a:latin typeface="Times New Roman" pitchFamily="18" charset="0"/>
                <a:ea typeface="Lora" pitchFamily="34" charset="-122"/>
                <a:cs typeface="Times New Roman" pitchFamily="18" charset="0"/>
              </a:rPr>
              <a:t>PRE-PROCESSING</a:t>
            </a:r>
            <a:endParaRPr lang="en-US" sz="3600" b="1" u="sng">
              <a:solidFill>
                <a:schemeClr val="bg2">
                  <a:lumMod val="10000"/>
                </a:schemeClr>
              </a:solidFill>
              <a:latin typeface="Times New Roman" pitchFamily="18" charset="0"/>
              <a:cs typeface="Times New Roman" pitchFamily="18" charset="0"/>
            </a:endParaRPr>
          </a:p>
        </p:txBody>
      </p:sp>
      <p:sp>
        <p:nvSpPr>
          <p:cNvPr id="24" name="Rectangle 23"/>
          <p:cNvSpPr/>
          <p:nvPr/>
        </p:nvSpPr>
        <p:spPr>
          <a:xfrm>
            <a:off x="2949526" y="3968204"/>
            <a:ext cx="7559040" cy="1502976"/>
          </a:xfrm>
          <a:prstGeom prst="rect">
            <a:avLst/>
          </a:prstGeom>
          <a:noFill/>
          <a:ln/>
        </p:spPr>
        <p:txBody>
          <a:bodyPr wrap="square" lIns="64008" tIns="32004" rIns="64008" bIns="32004" rtlCol="0" anchor="t"/>
          <a:lstStyle/>
          <a:p>
            <a:pPr algn="just">
              <a:lnSpc>
                <a:spcPts val="2177"/>
              </a:lnSpc>
            </a:pPr>
            <a:r>
              <a:rPr lang="en-US" sz="2400" b="1">
                <a:latin typeface="Times New Roman" pitchFamily="18" charset="0"/>
                <a:ea typeface="Source Sans Pro" pitchFamily="34" charset="-122"/>
                <a:cs typeface="Times New Roman" pitchFamily="18" charset="0"/>
              </a:rPr>
              <a:t>CLAHE</a:t>
            </a:r>
          </a:p>
          <a:p>
            <a:pPr algn="just">
              <a:lnSpc>
                <a:spcPts val="2177"/>
              </a:lnSpc>
              <a:buFont typeface="Arial" pitchFamily="34" charset="0"/>
              <a:buChar char="•"/>
            </a:pPr>
            <a:r>
              <a:rPr lang="en-US" sz="2800">
                <a:latin typeface="Times New Roman" pitchFamily="18" charset="0"/>
                <a:ea typeface="Source Sans Pro" pitchFamily="34" charset="-122"/>
                <a:cs typeface="Times New Roman" pitchFamily="18" charset="0"/>
              </a:rPr>
              <a:t>Contrast Limited Adaptive Histogram Equalization (CLAHE) is a powerful image enhancement technique that improves local contrast in retinal images.</a:t>
            </a:r>
          </a:p>
        </p:txBody>
      </p:sp>
      <p:sp>
        <p:nvSpPr>
          <p:cNvPr id="27" name="Shape 11"/>
          <p:cNvSpPr/>
          <p:nvPr/>
        </p:nvSpPr>
        <p:spPr>
          <a:xfrm>
            <a:off x="2394549" y="3934322"/>
            <a:ext cx="462856" cy="462856"/>
          </a:xfrm>
          <a:prstGeom prst="roundRect">
            <a:avLst>
              <a:gd name="adj" fmla="val 13335"/>
            </a:avLst>
          </a:prstGeom>
          <a:solidFill>
            <a:srgbClr val="363A4A"/>
          </a:solidFill>
          <a:ln/>
        </p:spPr>
      </p:sp>
      <p:sp>
        <p:nvSpPr>
          <p:cNvPr id="28" name="Text 12"/>
          <p:cNvSpPr/>
          <p:nvPr/>
        </p:nvSpPr>
        <p:spPr>
          <a:xfrm>
            <a:off x="2502862" y="3992410"/>
            <a:ext cx="161825" cy="290413"/>
          </a:xfrm>
          <a:prstGeom prst="rect">
            <a:avLst/>
          </a:prstGeom>
          <a:noFill/>
          <a:ln/>
        </p:spPr>
        <p:txBody>
          <a:bodyPr wrap="none" lIns="64008" tIns="32004" rIns="64008" bIns="32004" rtlCol="0" anchor="t"/>
          <a:lstStyle/>
          <a:p>
            <a:pPr algn="ctr">
              <a:lnSpc>
                <a:spcPts val="1921"/>
              </a:lnSpc>
            </a:pPr>
            <a:r>
              <a:rPr lang="en-US" sz="2400">
                <a:solidFill>
                  <a:schemeClr val="bg1"/>
                </a:solidFill>
                <a:latin typeface="Times New Roman" pitchFamily="18" charset="0"/>
                <a:ea typeface="Lora" pitchFamily="34" charset="-122"/>
                <a:cs typeface="Times New Roman" pitchFamily="18" charset="0"/>
              </a:rPr>
              <a:t>3</a:t>
            </a:r>
            <a:endParaRPr lang="en-US" sz="2400">
              <a:solidFill>
                <a:schemeClr val="bg1"/>
              </a:solidFill>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4680" y="455747"/>
            <a:ext cx="8835758" cy="1219084"/>
          </a:xfrm>
        </p:spPr>
        <p:txBody>
          <a:bodyPr>
            <a:normAutofit/>
          </a:bodyPr>
          <a:lstStyle/>
          <a:p>
            <a:pPr algn="ctr"/>
            <a:r>
              <a:rPr lang="en-IN" altLang="en-US" sz="3600">
                <a:latin typeface="Tw Cen MT" pitchFamily="34" charset="0"/>
              </a:rPr>
              <a:t>               </a:t>
            </a:r>
            <a:r>
              <a:rPr lang="en-IN" altLang="en-US" sz="3600" b="1">
                <a:latin typeface="Tw Cen MT" pitchFamily="34" charset="0"/>
              </a:rPr>
              <a:t>OUTPUT OF PRE-PROCESSING</a:t>
            </a:r>
          </a:p>
        </p:txBody>
      </p:sp>
      <p:sp>
        <p:nvSpPr>
          <p:cNvPr id="10" name="TextBox 9">
            <a:extLst>
              <a:ext uri="{FF2B5EF4-FFF2-40B4-BE49-F238E27FC236}">
                <a16:creationId xmlns:a16="http://schemas.microsoft.com/office/drawing/2014/main" id="{F7B980A5-D2C6-632C-3E04-2E82B0170CFA}"/>
              </a:ext>
            </a:extLst>
          </p:cNvPr>
          <p:cNvSpPr txBox="1"/>
          <p:nvPr/>
        </p:nvSpPr>
        <p:spPr>
          <a:xfrm>
            <a:off x="8451858" y="5325850"/>
            <a:ext cx="2704352"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b="1">
                <a:latin typeface="Times New Roman"/>
                <a:ea typeface="Calibri"/>
                <a:cs typeface="Calibri"/>
              </a:rPr>
              <a:t>Images with</a:t>
            </a:r>
          </a:p>
          <a:p>
            <a:pPr algn="l"/>
            <a:r>
              <a:rPr lang="en-US" sz="2800" b="1">
                <a:latin typeface="Times New Roman"/>
                <a:ea typeface="Calibri"/>
                <a:cs typeface="Calibri"/>
              </a:rPr>
              <a:t>Hemorrhages</a:t>
            </a:r>
          </a:p>
        </p:txBody>
      </p:sp>
      <p:sp>
        <p:nvSpPr>
          <p:cNvPr id="8" name="TextBox 7">
            <a:extLst>
              <a:ext uri="{FF2B5EF4-FFF2-40B4-BE49-F238E27FC236}">
                <a16:creationId xmlns:a16="http://schemas.microsoft.com/office/drawing/2014/main" id="{71C69323-BDCF-3EAD-20C9-230C7DB84F58}"/>
              </a:ext>
            </a:extLst>
          </p:cNvPr>
          <p:cNvSpPr txBox="1"/>
          <p:nvPr/>
        </p:nvSpPr>
        <p:spPr>
          <a:xfrm>
            <a:off x="8697123" y="2442202"/>
            <a:ext cx="2853764" cy="9562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9" name="TextBox 8">
            <a:extLst>
              <a:ext uri="{FF2B5EF4-FFF2-40B4-BE49-F238E27FC236}">
                <a16:creationId xmlns:a16="http://schemas.microsoft.com/office/drawing/2014/main" id="{C6608153-5FF3-D838-E4D1-85B49A908014}"/>
              </a:ext>
            </a:extLst>
          </p:cNvPr>
          <p:cNvSpPr txBox="1"/>
          <p:nvPr/>
        </p:nvSpPr>
        <p:spPr>
          <a:xfrm>
            <a:off x="8344172" y="2595560"/>
            <a:ext cx="3062941"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latin typeface="Times New Roman"/>
                <a:ea typeface="Calibri"/>
                <a:cs typeface="Calibri"/>
              </a:rPr>
              <a:t>Images with</a:t>
            </a:r>
          </a:p>
          <a:p>
            <a:r>
              <a:rPr lang="en-US" sz="2800" b="1">
                <a:latin typeface="Times New Roman"/>
                <a:ea typeface="Calibri"/>
                <a:cs typeface="Calibri"/>
              </a:rPr>
              <a:t>No Hemorrhages</a:t>
            </a:r>
          </a:p>
        </p:txBody>
      </p:sp>
      <p:pic>
        <p:nvPicPr>
          <p:cNvPr id="13" name="image3.png">
            <a:extLst>
              <a:ext uri="{FF2B5EF4-FFF2-40B4-BE49-F238E27FC236}">
                <a16:creationId xmlns:a16="http://schemas.microsoft.com/office/drawing/2014/main" id="{9C686487-FEEB-509F-173B-4E1F603F6C9A}"/>
              </a:ext>
            </a:extLst>
          </p:cNvPr>
          <p:cNvPicPr/>
          <p:nvPr/>
        </p:nvPicPr>
        <p:blipFill>
          <a:blip r:embed="rId2"/>
          <a:srcRect/>
          <a:stretch>
            <a:fillRect/>
          </a:stretch>
        </p:blipFill>
        <p:spPr>
          <a:xfrm>
            <a:off x="791383" y="4411579"/>
            <a:ext cx="6911802" cy="1993612"/>
          </a:xfrm>
          <a:prstGeom prst="rect">
            <a:avLst/>
          </a:prstGeom>
          <a:ln/>
        </p:spPr>
      </p:pic>
      <p:pic>
        <p:nvPicPr>
          <p:cNvPr id="14" name="Content Placeholder 13">
            <a:extLst>
              <a:ext uri="{FF2B5EF4-FFF2-40B4-BE49-F238E27FC236}">
                <a16:creationId xmlns:a16="http://schemas.microsoft.com/office/drawing/2014/main" id="{11C75910-E95A-B780-D8DB-6D969F9F8337}"/>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791384" y="1995919"/>
            <a:ext cx="6911802" cy="199361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7995"/>
            <a:ext cx="10515600" cy="1325563"/>
          </a:xfrm>
        </p:spPr>
        <p:txBody>
          <a:bodyPr>
            <a:normAutofit/>
          </a:bodyPr>
          <a:lstStyle/>
          <a:p>
            <a:pPr algn="ctr"/>
            <a:r>
              <a:rPr lang="en-IN" altLang="en-US" sz="3600">
                <a:latin typeface="Tw Cen MT" pitchFamily="34" charset="0"/>
              </a:rPr>
              <a:t>      </a:t>
            </a:r>
            <a:r>
              <a:rPr lang="en-IN" altLang="en-US" sz="3600" b="1" u="sng">
                <a:latin typeface="Tw Cen MT" pitchFamily="34" charset="0"/>
              </a:rPr>
              <a:t>OPTICAL DISK REMOVAL</a:t>
            </a:r>
          </a:p>
        </p:txBody>
      </p:sp>
      <p:sp>
        <p:nvSpPr>
          <p:cNvPr id="3" name="Content Placeholder 2"/>
          <p:cNvSpPr>
            <a:spLocks noGrp="1"/>
          </p:cNvSpPr>
          <p:nvPr>
            <p:ph idx="1"/>
          </p:nvPr>
        </p:nvSpPr>
        <p:spPr>
          <a:xfrm>
            <a:off x="942535" y="1351703"/>
            <a:ext cx="9973993" cy="4317577"/>
          </a:xfrm>
        </p:spPr>
        <p:txBody>
          <a:bodyPr vert="horz" lIns="91440" tIns="45720" rIns="91440" bIns="45720" rtlCol="0" anchor="t">
            <a:normAutofit/>
          </a:bodyPr>
          <a:lstStyle/>
          <a:p>
            <a:pPr algn="just"/>
            <a:r>
              <a:rPr lang="en-US" b="1">
                <a:latin typeface="Times New Roman" pitchFamily="18" charset="0"/>
                <a:cs typeface="Times New Roman" pitchFamily="18" charset="0"/>
              </a:rPr>
              <a:t>Thresholding and Morphology:</a:t>
            </a:r>
            <a:r>
              <a:rPr lang="en-US">
                <a:latin typeface="Times New Roman" pitchFamily="18" charset="0"/>
                <a:cs typeface="Times New Roman" pitchFamily="18" charset="0"/>
              </a:rPr>
              <a:t> A binary threshold is applied to highlight the optic disk, followed by morphological operations with a large kernel to clean up noise and refine the detected region.</a:t>
            </a:r>
            <a:endParaRPr lang="en-US">
              <a:latin typeface="Times New Roman" pitchFamily="18" charset="0"/>
              <a:ea typeface="Calibri"/>
              <a:cs typeface="Times New Roman" pitchFamily="18" charset="0"/>
            </a:endParaRPr>
          </a:p>
          <a:p>
            <a:pPr algn="just"/>
            <a:r>
              <a:rPr lang="en-US" b="1">
                <a:latin typeface="Times New Roman" pitchFamily="18" charset="0"/>
                <a:cs typeface="Times New Roman" pitchFamily="18" charset="0"/>
              </a:rPr>
              <a:t>Contour Detection:</a:t>
            </a:r>
            <a:r>
              <a:rPr lang="en-US">
                <a:latin typeface="Times New Roman" pitchFamily="18" charset="0"/>
                <a:cs typeface="Times New Roman" pitchFamily="18" charset="0"/>
              </a:rPr>
              <a:t> It removes optic disk specifically neglect other features.</a:t>
            </a:r>
            <a:endParaRPr lang="en-US">
              <a:latin typeface="Times New Roman" pitchFamily="18" charset="0"/>
              <a:ea typeface="+mn-lt"/>
              <a:cs typeface="Times New Roman" pitchFamily="18" charset="0"/>
            </a:endParaRPr>
          </a:p>
          <a:p>
            <a:pPr algn="just"/>
            <a:r>
              <a:rPr lang="en-US" b="1">
                <a:latin typeface="Times New Roman" pitchFamily="18" charset="0"/>
                <a:ea typeface="+mn-lt"/>
                <a:cs typeface="Times New Roman" pitchFamily="18" charset="0"/>
              </a:rPr>
              <a:t>Mask Inversion: </a:t>
            </a:r>
            <a:r>
              <a:rPr lang="en-US">
                <a:latin typeface="Times New Roman" pitchFamily="18" charset="0"/>
                <a:ea typeface="+mn-lt"/>
                <a:cs typeface="Times New Roman" pitchFamily="18" charset="0"/>
              </a:rPr>
              <a:t>Inverts the mask to isolate the optic disc area.</a:t>
            </a:r>
            <a:endParaRPr lang="en-US">
              <a:latin typeface="Times New Roman" pitchFamily="18" charset="0"/>
              <a:cs typeface="Times New Roman" pitchFamily="18" charset="0"/>
            </a:endParaRPr>
          </a:p>
          <a:p>
            <a:pPr algn="just"/>
            <a:r>
              <a:rPr lang="en-US">
                <a:latin typeface="Times New Roman" pitchFamily="18" charset="0"/>
                <a:ea typeface="+mn-lt"/>
                <a:cs typeface="Times New Roman" pitchFamily="18" charset="0"/>
              </a:rPr>
              <a:t> </a:t>
            </a:r>
            <a:r>
              <a:rPr lang="en-US" b="1">
                <a:latin typeface="Times New Roman" pitchFamily="18" charset="0"/>
                <a:ea typeface="+mn-lt"/>
                <a:cs typeface="Times New Roman" pitchFamily="18" charset="0"/>
              </a:rPr>
              <a:t>Bitwise Operations: </a:t>
            </a:r>
            <a:r>
              <a:rPr lang="en-US">
                <a:latin typeface="Times New Roman" pitchFamily="18" charset="0"/>
                <a:ea typeface="+mn-lt"/>
                <a:cs typeface="Times New Roman" pitchFamily="18" charset="0"/>
              </a:rPr>
              <a:t>Performs logical operations (AND, OR, NOT, etc.) on images and masks.</a:t>
            </a:r>
            <a:endParaRPr lang="en-US">
              <a:latin typeface="Times New Roman" pitchFamily="18" charset="0"/>
              <a:ea typeface="Calibri"/>
              <a:cs typeface="Times New Roman" pitchFamily="18" charset="0"/>
            </a:endParaRPr>
          </a:p>
          <a:p>
            <a:pPr marL="0" indent="0">
              <a:buNone/>
            </a:pPr>
            <a:endParaRPr lang="en-US">
              <a:latin typeface="Times New Roman"/>
              <a:ea typeface="Calibri"/>
              <a:cs typeface="Calibri"/>
            </a:endParaRPr>
          </a:p>
          <a:p>
            <a:endParaRPr lang="en-US">
              <a:latin typeface="Calibri"/>
              <a:ea typeface="Calibri"/>
              <a:cs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D1175FB-9E77-7E98-549C-F555EED4B85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96716" y="882315"/>
            <a:ext cx="7780421" cy="2374231"/>
          </a:xfrm>
          <a:prstGeom prst="rect">
            <a:avLst/>
          </a:prstGeom>
          <a:noFill/>
          <a:ln>
            <a:noFill/>
          </a:ln>
        </p:spPr>
      </p:pic>
      <p:pic>
        <p:nvPicPr>
          <p:cNvPr id="5" name="Picture 4">
            <a:extLst>
              <a:ext uri="{FF2B5EF4-FFF2-40B4-BE49-F238E27FC236}">
                <a16:creationId xmlns:a16="http://schemas.microsoft.com/office/drawing/2014/main" id="{77AAF359-FD21-6F80-E744-5EF19DB6F6A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96716" y="3761873"/>
            <a:ext cx="7780421" cy="2213812"/>
          </a:xfrm>
          <a:prstGeom prst="rect">
            <a:avLst/>
          </a:prstGeom>
          <a:noFill/>
          <a:ln>
            <a:noFill/>
          </a:ln>
        </p:spPr>
      </p:pic>
      <p:sp>
        <p:nvSpPr>
          <p:cNvPr id="4" name="Rectangle 3"/>
          <p:cNvSpPr/>
          <p:nvPr/>
        </p:nvSpPr>
        <p:spPr>
          <a:xfrm>
            <a:off x="3010645" y="247916"/>
            <a:ext cx="6234143" cy="584775"/>
          </a:xfrm>
          <a:prstGeom prst="rect">
            <a:avLst/>
          </a:prstGeom>
        </p:spPr>
        <p:txBody>
          <a:bodyPr wrap="none">
            <a:spAutoFit/>
          </a:bodyPr>
          <a:lstStyle/>
          <a:p>
            <a:pPr algn="ctr"/>
            <a:r>
              <a:rPr lang="en-IN" altLang="en-US">
                <a:latin typeface="Tw Cen MT" pitchFamily="34" charset="0"/>
              </a:rPr>
              <a:t> </a:t>
            </a:r>
            <a:r>
              <a:rPr lang="en-IN" altLang="en-US" sz="3200" b="1">
                <a:latin typeface="Tw Cen MT" pitchFamily="34" charset="0"/>
              </a:rPr>
              <a:t>OUTPUT OF OPTIC DISC REMOVAL</a:t>
            </a:r>
            <a:endParaRPr lang="en-US"/>
          </a:p>
        </p:txBody>
      </p:sp>
    </p:spTree>
    <p:extLst>
      <p:ext uri="{BB962C8B-B14F-4D97-AF65-F5344CB8AC3E}">
        <p14:creationId xmlns:p14="http://schemas.microsoft.com/office/powerpoint/2010/main" val="29269385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A5E23-9102-9C14-081F-5B2625833DDC}"/>
              </a:ext>
            </a:extLst>
          </p:cNvPr>
          <p:cNvSpPr>
            <a:spLocks noGrp="1"/>
          </p:cNvSpPr>
          <p:nvPr>
            <p:ph type="title"/>
          </p:nvPr>
        </p:nvSpPr>
        <p:spPr>
          <a:xfrm>
            <a:off x="900334" y="308855"/>
            <a:ext cx="10621106" cy="1339940"/>
          </a:xfrm>
        </p:spPr>
        <p:txBody>
          <a:bodyPr>
            <a:normAutofit/>
          </a:bodyPr>
          <a:lstStyle/>
          <a:p>
            <a:pPr algn="ctr"/>
            <a:r>
              <a:rPr lang="en-US" b="1" u="sng">
                <a:ea typeface="Calibri Light"/>
                <a:cs typeface="Calibri Light"/>
              </a:rPr>
              <a:t> </a:t>
            </a:r>
            <a:r>
              <a:rPr lang="en-US" sz="3200" b="1" u="sng">
                <a:latin typeface="Tw Cen MT" pitchFamily="34" charset="0"/>
                <a:ea typeface="Calibri Light"/>
                <a:cs typeface="Calibri Light"/>
              </a:rPr>
              <a:t>BLOOD VESSEL ENHANCEMENT AND  REMOVAL</a:t>
            </a:r>
            <a:endParaRPr lang="en-US" b="1" u="sng">
              <a:latin typeface="Tw Cen MT" pitchFamily="34" charset="0"/>
            </a:endParaRPr>
          </a:p>
        </p:txBody>
      </p:sp>
      <p:sp>
        <p:nvSpPr>
          <p:cNvPr id="3" name="Content Placeholder 2">
            <a:extLst>
              <a:ext uri="{FF2B5EF4-FFF2-40B4-BE49-F238E27FC236}">
                <a16:creationId xmlns:a16="http://schemas.microsoft.com/office/drawing/2014/main" id="{6317D902-BE94-F273-29E9-662E4245278F}"/>
              </a:ext>
            </a:extLst>
          </p:cNvPr>
          <p:cNvSpPr>
            <a:spLocks noGrp="1"/>
          </p:cNvSpPr>
          <p:nvPr>
            <p:ph idx="1"/>
          </p:nvPr>
        </p:nvSpPr>
        <p:spPr>
          <a:xfrm>
            <a:off x="838200" y="1538078"/>
            <a:ext cx="10515600" cy="5170847"/>
          </a:xfrm>
        </p:spPr>
        <p:txBody>
          <a:bodyPr vert="horz" lIns="91440" tIns="45720" rIns="91440" bIns="45720" rtlCol="0" anchor="t">
            <a:normAutofit/>
          </a:bodyPr>
          <a:lstStyle/>
          <a:p>
            <a:pPr algn="just"/>
            <a:r>
              <a:rPr lang="en-US" b="1">
                <a:latin typeface="Times New Roman"/>
                <a:cs typeface="Times New Roman"/>
              </a:rPr>
              <a:t>Frangi Filter (Frangi Vessel Filter):</a:t>
            </a:r>
            <a:r>
              <a:rPr lang="en-US">
                <a:latin typeface="Times New Roman"/>
                <a:cs typeface="Times New Roman"/>
              </a:rPr>
              <a:t> The frangi() function is likely referring to the Frangi filter, a technique used for vessel enhancement in images. It is specifically designed to highlight tubular structures like blood vessels in medical images.</a:t>
            </a:r>
          </a:p>
          <a:p>
            <a:pPr algn="just"/>
            <a:r>
              <a:rPr lang="en-IN" b="1">
                <a:latin typeface="Times New Roman"/>
                <a:cs typeface="Times New Roman"/>
              </a:rPr>
              <a:t>T</a:t>
            </a:r>
            <a:r>
              <a:rPr lang="en-US" b="1" err="1">
                <a:latin typeface="Times New Roman"/>
                <a:cs typeface="Times New Roman"/>
              </a:rPr>
              <a:t>hreshold</a:t>
            </a:r>
            <a:r>
              <a:rPr lang="en-US" b="1">
                <a:latin typeface="Times New Roman"/>
                <a:cs typeface="Times New Roman"/>
              </a:rPr>
              <a:t>-based segmentation</a:t>
            </a:r>
            <a:r>
              <a:rPr lang="en-IN">
                <a:latin typeface="Times New Roman"/>
                <a:cs typeface="Times New Roman"/>
              </a:rPr>
              <a:t>: B</a:t>
            </a:r>
            <a:r>
              <a:rPr lang="en-US">
                <a:latin typeface="Times New Roman"/>
                <a:cs typeface="Times New Roman"/>
              </a:rPr>
              <a:t>y converting the input image into a binary image, isolating regions based on intensity values (pixels above 127 become white, others become black).</a:t>
            </a:r>
          </a:p>
          <a:p>
            <a:pPr algn="just"/>
            <a:r>
              <a:rPr lang="en-US" b="1">
                <a:latin typeface="Times New Roman"/>
                <a:cs typeface="Times New Roman"/>
              </a:rPr>
              <a:t>Morphological Operations: </a:t>
            </a:r>
            <a:r>
              <a:rPr lang="en-US">
                <a:latin typeface="Times New Roman"/>
                <a:ea typeface="+mn-lt"/>
                <a:cs typeface="+mn-lt"/>
              </a:rPr>
              <a:t>Morphological operations are essential tools in image processing for refining binary images, such as segmented masks of blood vessels. These operations are typically used to remove noise, fill gaps, and enhance the overall structure of segmented objects.</a:t>
            </a:r>
            <a:endParaRPr lang="en-US" b="1">
              <a:latin typeface="Times New Roman"/>
              <a:ea typeface="+mn-lt"/>
              <a:cs typeface="+mn-lt"/>
            </a:endParaRPr>
          </a:p>
          <a:p>
            <a:endParaRPr lang="en-US">
              <a:latin typeface="Times New Roman"/>
              <a:cs typeface="Times New Roman"/>
            </a:endParaRPr>
          </a:p>
        </p:txBody>
      </p:sp>
    </p:spTree>
    <p:extLst>
      <p:ext uri="{BB962C8B-B14F-4D97-AF65-F5344CB8AC3E}">
        <p14:creationId xmlns:p14="http://schemas.microsoft.com/office/powerpoint/2010/main" val="40080607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838200" y="8778420"/>
            <a:ext cx="2743200" cy="730745"/>
          </a:xfrm>
        </p:spPr>
        <p:txBody>
          <a:bodyPr/>
          <a:lstStyle/>
          <a:p>
            <a:pPr>
              <a:defRPr/>
            </a:pPr>
            <a:endParaRPr lang="en-US">
              <a:latin typeface="Tw Cen MT" pitchFamily="34" charset="0"/>
            </a:endParaRPr>
          </a:p>
        </p:txBody>
      </p:sp>
      <p:sp>
        <p:nvSpPr>
          <p:cNvPr id="5" name="Footer Placeholder 4"/>
          <p:cNvSpPr>
            <a:spLocks noGrp="1"/>
          </p:cNvSpPr>
          <p:nvPr>
            <p:ph type="ftr" sz="quarter" idx="11"/>
          </p:nvPr>
        </p:nvSpPr>
        <p:spPr>
          <a:xfrm>
            <a:off x="4363452" y="7876673"/>
            <a:ext cx="3789947" cy="548638"/>
          </a:xfrm>
        </p:spPr>
        <p:txBody>
          <a:bodyPr/>
          <a:lstStyle/>
          <a:p>
            <a:pPr>
              <a:defRPr/>
            </a:pPr>
            <a:endParaRPr lang="en-US">
              <a:latin typeface="Tw Cen MT" pitchFamily="34" charset="0"/>
            </a:endParaRPr>
          </a:p>
        </p:txBody>
      </p:sp>
      <p:sp>
        <p:nvSpPr>
          <p:cNvPr id="6" name="Slide Number Placeholder 5"/>
          <p:cNvSpPr>
            <a:spLocks noGrp="1"/>
          </p:cNvSpPr>
          <p:nvPr>
            <p:ph type="sldNum" sz="quarter" idx="12"/>
          </p:nvPr>
        </p:nvSpPr>
        <p:spPr/>
        <p:txBody>
          <a:bodyPr/>
          <a:lstStyle/>
          <a:p>
            <a:pPr>
              <a:defRPr/>
            </a:pPr>
            <a:fld id="{ACCDA392-B217-C946-B61D-1E0777F92007}" type="slidenum">
              <a:rPr lang="en-US" smtClean="0">
                <a:latin typeface="Tw Cen MT" pitchFamily="34" charset="0"/>
              </a:rPr>
              <a:pPr>
                <a:defRPr/>
              </a:pPr>
              <a:t>10</a:t>
            </a:fld>
            <a:endParaRPr lang="en-US">
              <a:latin typeface="Tw Cen MT" pitchFamily="34" charset="0"/>
            </a:endParaRPr>
          </a:p>
        </p:txBody>
      </p:sp>
      <p:sp>
        <p:nvSpPr>
          <p:cNvPr id="27" name="Text 2"/>
          <p:cNvSpPr/>
          <p:nvPr/>
        </p:nvSpPr>
        <p:spPr>
          <a:xfrm>
            <a:off x="1002666" y="1080017"/>
            <a:ext cx="10579735" cy="631865"/>
          </a:xfrm>
          <a:prstGeom prst="rect">
            <a:avLst/>
          </a:prstGeom>
          <a:noFill/>
          <a:ln/>
        </p:spPr>
        <p:txBody>
          <a:bodyPr wrap="none" rtlCol="0" anchor="t"/>
          <a:lstStyle/>
          <a:p>
            <a:pPr marL="0" indent="0">
              <a:lnSpc>
                <a:spcPts val="4976"/>
              </a:lnSpc>
              <a:buNone/>
            </a:pPr>
            <a:r>
              <a:rPr lang="en-US" sz="2800" b="1">
                <a:solidFill>
                  <a:schemeClr val="tx2">
                    <a:lumMod val="75000"/>
                  </a:schemeClr>
                </a:solidFill>
                <a:latin typeface="Times New Roman" pitchFamily="18" charset="0"/>
                <a:ea typeface="Lora" pitchFamily="34" charset="-122"/>
                <a:cs typeface="Times New Roman" pitchFamily="18" charset="0"/>
              </a:rPr>
              <a:t>Frangi Filter for Vessel Enhancement</a:t>
            </a:r>
            <a:endParaRPr lang="en-US" sz="2800" b="1">
              <a:solidFill>
                <a:schemeClr val="tx2">
                  <a:lumMod val="75000"/>
                </a:schemeClr>
              </a:solidFill>
              <a:latin typeface="Times New Roman" pitchFamily="18" charset="0"/>
              <a:cs typeface="Times New Roman" pitchFamily="18" charset="0"/>
            </a:endParaRPr>
          </a:p>
        </p:txBody>
      </p:sp>
      <p:sp>
        <p:nvSpPr>
          <p:cNvPr id="28" name="Shape 3"/>
          <p:cNvSpPr/>
          <p:nvPr/>
        </p:nvSpPr>
        <p:spPr>
          <a:xfrm>
            <a:off x="1444942" y="1711881"/>
            <a:ext cx="60959" cy="4394179"/>
          </a:xfrm>
          <a:prstGeom prst="rect">
            <a:avLst/>
          </a:prstGeom>
          <a:solidFill>
            <a:srgbClr val="6EB9FC"/>
          </a:solidFill>
          <a:ln/>
        </p:spPr>
      </p:sp>
      <p:sp>
        <p:nvSpPr>
          <p:cNvPr id="29" name="Shape 4"/>
          <p:cNvSpPr/>
          <p:nvPr/>
        </p:nvSpPr>
        <p:spPr>
          <a:xfrm>
            <a:off x="1754506" y="2504064"/>
            <a:ext cx="670545" cy="45719"/>
          </a:xfrm>
          <a:prstGeom prst="rect">
            <a:avLst/>
          </a:prstGeom>
          <a:solidFill>
            <a:srgbClr val="6EB9FC"/>
          </a:solidFill>
          <a:ln/>
        </p:spPr>
      </p:sp>
      <p:sp>
        <p:nvSpPr>
          <p:cNvPr id="30" name="Shape 5"/>
          <p:cNvSpPr/>
          <p:nvPr/>
        </p:nvSpPr>
        <p:spPr>
          <a:xfrm>
            <a:off x="1109980" y="2275761"/>
            <a:ext cx="644525" cy="483394"/>
          </a:xfrm>
          <a:prstGeom prst="roundRect">
            <a:avLst>
              <a:gd name="adj" fmla="val 13334"/>
            </a:avLst>
          </a:prstGeom>
          <a:solidFill>
            <a:srgbClr val="363A4A"/>
          </a:solidFill>
          <a:ln/>
        </p:spPr>
      </p:sp>
      <p:sp>
        <p:nvSpPr>
          <p:cNvPr id="31" name="Text 6"/>
          <p:cNvSpPr/>
          <p:nvPr/>
        </p:nvSpPr>
        <p:spPr>
          <a:xfrm>
            <a:off x="1358583" y="2365773"/>
            <a:ext cx="147320" cy="303371"/>
          </a:xfrm>
          <a:prstGeom prst="rect">
            <a:avLst/>
          </a:prstGeom>
          <a:noFill/>
          <a:ln/>
        </p:spPr>
        <p:txBody>
          <a:bodyPr wrap="none" rtlCol="0" anchor="t"/>
          <a:lstStyle/>
          <a:p>
            <a:pPr marL="0" indent="0" algn="ctr">
              <a:lnSpc>
                <a:spcPts val="2388"/>
              </a:lnSpc>
              <a:buNone/>
            </a:pPr>
            <a:r>
              <a:rPr lang="en-US" sz="2388">
                <a:solidFill>
                  <a:srgbClr val="6EB9FC"/>
                </a:solidFill>
                <a:latin typeface="Tw Cen MT" pitchFamily="34" charset="0"/>
                <a:ea typeface="Lora" pitchFamily="34" charset="-122"/>
                <a:cs typeface="Lora" pitchFamily="34" charset="-120"/>
              </a:rPr>
              <a:t>1</a:t>
            </a:r>
            <a:endParaRPr lang="en-US" sz="2388">
              <a:latin typeface="Tw Cen MT" pitchFamily="34" charset="0"/>
            </a:endParaRPr>
          </a:p>
        </p:txBody>
      </p:sp>
      <p:sp>
        <p:nvSpPr>
          <p:cNvPr id="33" name="Text 8"/>
          <p:cNvSpPr/>
          <p:nvPr/>
        </p:nvSpPr>
        <p:spPr>
          <a:xfrm>
            <a:off x="2438400" y="2205930"/>
            <a:ext cx="8218536" cy="687705"/>
          </a:xfrm>
          <a:prstGeom prst="rect">
            <a:avLst/>
          </a:prstGeom>
          <a:noFill/>
          <a:ln/>
        </p:spPr>
        <p:txBody>
          <a:bodyPr wrap="square" rtlCol="0" anchor="t"/>
          <a:lstStyle/>
          <a:p>
            <a:pPr marL="0" indent="0" algn="just">
              <a:lnSpc>
                <a:spcPts val="2707"/>
              </a:lnSpc>
              <a:buNone/>
            </a:pPr>
            <a:r>
              <a:rPr lang="en-US" sz="2800" dirty="0">
                <a:latin typeface="Times New Roman" pitchFamily="18" charset="0"/>
                <a:ea typeface="Source Sans Pro" pitchFamily="34" charset="-122"/>
                <a:cs typeface="Times New Roman" pitchFamily="18" charset="0"/>
              </a:rPr>
              <a:t>The </a:t>
            </a:r>
            <a:r>
              <a:rPr lang="en-US" sz="2800" dirty="0" err="1">
                <a:latin typeface="Times New Roman" pitchFamily="18" charset="0"/>
                <a:ea typeface="Source Sans Pro" pitchFamily="34" charset="-122"/>
                <a:cs typeface="Times New Roman" pitchFamily="18" charset="0"/>
              </a:rPr>
              <a:t>Frangi</a:t>
            </a:r>
            <a:r>
              <a:rPr lang="en-US" sz="2800" dirty="0">
                <a:latin typeface="Times New Roman" pitchFamily="18" charset="0"/>
                <a:ea typeface="Source Sans Pro" pitchFamily="34" charset="-122"/>
                <a:cs typeface="Times New Roman" pitchFamily="18" charset="0"/>
              </a:rPr>
              <a:t> filter is a specialized filter designed to enhance blood vessels in retinal images, making them easier to detect and analyze.</a:t>
            </a:r>
            <a:endParaRPr lang="en-US" sz="2800" dirty="0">
              <a:latin typeface="Times New Roman" pitchFamily="18" charset="0"/>
              <a:cs typeface="Times New Roman" pitchFamily="18" charset="0"/>
            </a:endParaRPr>
          </a:p>
        </p:txBody>
      </p:sp>
      <p:sp>
        <p:nvSpPr>
          <p:cNvPr id="34" name="Shape 9"/>
          <p:cNvSpPr/>
          <p:nvPr/>
        </p:nvSpPr>
        <p:spPr>
          <a:xfrm>
            <a:off x="1754506" y="4039136"/>
            <a:ext cx="683895" cy="45719"/>
          </a:xfrm>
          <a:prstGeom prst="rect">
            <a:avLst/>
          </a:prstGeom>
          <a:solidFill>
            <a:srgbClr val="6EB9FC"/>
          </a:solidFill>
          <a:ln/>
        </p:spPr>
      </p:sp>
      <p:sp>
        <p:nvSpPr>
          <p:cNvPr id="35" name="Shape 10"/>
          <p:cNvSpPr/>
          <p:nvPr/>
        </p:nvSpPr>
        <p:spPr>
          <a:xfrm>
            <a:off x="1109980" y="3797439"/>
            <a:ext cx="644525" cy="483394"/>
          </a:xfrm>
          <a:prstGeom prst="roundRect">
            <a:avLst>
              <a:gd name="adj" fmla="val 13334"/>
            </a:avLst>
          </a:prstGeom>
          <a:solidFill>
            <a:srgbClr val="363A4A"/>
          </a:solidFill>
          <a:ln/>
        </p:spPr>
      </p:sp>
      <p:sp>
        <p:nvSpPr>
          <p:cNvPr id="36" name="Text 11"/>
          <p:cNvSpPr/>
          <p:nvPr/>
        </p:nvSpPr>
        <p:spPr>
          <a:xfrm>
            <a:off x="1319531" y="3900845"/>
            <a:ext cx="217171" cy="303371"/>
          </a:xfrm>
          <a:prstGeom prst="rect">
            <a:avLst/>
          </a:prstGeom>
          <a:noFill/>
          <a:ln/>
        </p:spPr>
        <p:txBody>
          <a:bodyPr wrap="none" rtlCol="0" anchor="t"/>
          <a:lstStyle/>
          <a:p>
            <a:pPr marL="0" indent="0" algn="ctr">
              <a:lnSpc>
                <a:spcPts val="2388"/>
              </a:lnSpc>
              <a:buNone/>
            </a:pPr>
            <a:r>
              <a:rPr lang="en-US" sz="2388">
                <a:solidFill>
                  <a:srgbClr val="6EB9FC"/>
                </a:solidFill>
                <a:latin typeface="Tw Cen MT" pitchFamily="34" charset="0"/>
                <a:ea typeface="Lora" pitchFamily="34" charset="-122"/>
                <a:cs typeface="Lora" pitchFamily="34" charset="-120"/>
              </a:rPr>
              <a:t>2</a:t>
            </a:r>
            <a:endParaRPr lang="en-US" sz="2388">
              <a:latin typeface="Tw Cen MT" pitchFamily="34" charset="0"/>
            </a:endParaRPr>
          </a:p>
        </p:txBody>
      </p:sp>
      <p:sp>
        <p:nvSpPr>
          <p:cNvPr id="38" name="Text 13"/>
          <p:cNvSpPr/>
          <p:nvPr/>
        </p:nvSpPr>
        <p:spPr>
          <a:xfrm>
            <a:off x="2438400" y="3860363"/>
            <a:ext cx="8218536" cy="687705"/>
          </a:xfrm>
          <a:prstGeom prst="rect">
            <a:avLst/>
          </a:prstGeom>
          <a:noFill/>
          <a:ln/>
        </p:spPr>
        <p:txBody>
          <a:bodyPr wrap="square" rtlCol="0" anchor="t"/>
          <a:lstStyle/>
          <a:p>
            <a:pPr marL="0" indent="0" algn="just">
              <a:lnSpc>
                <a:spcPts val="2707"/>
              </a:lnSpc>
              <a:buNone/>
            </a:pPr>
            <a:r>
              <a:rPr lang="en-US" sz="2800" dirty="0">
                <a:latin typeface="Times New Roman" pitchFamily="18" charset="0"/>
                <a:ea typeface="Source Sans Pro" pitchFamily="34" charset="-122"/>
                <a:cs typeface="Times New Roman" pitchFamily="18" charset="0"/>
              </a:rPr>
              <a:t>The filter is applied to the pre-processed image, enhancing the visibility of blood vessels by emphasizing their elongated shapes.</a:t>
            </a:r>
            <a:endParaRPr lang="en-US" sz="2800" dirty="0">
              <a:latin typeface="Times New Roman" pitchFamily="18" charset="0"/>
              <a:cs typeface="Times New Roman" pitchFamily="18" charset="0"/>
            </a:endParaRPr>
          </a:p>
        </p:txBody>
      </p:sp>
      <p:sp>
        <p:nvSpPr>
          <p:cNvPr id="39" name="Shape 14"/>
          <p:cNvSpPr/>
          <p:nvPr/>
        </p:nvSpPr>
        <p:spPr>
          <a:xfrm>
            <a:off x="1754506" y="5587664"/>
            <a:ext cx="670545" cy="45719"/>
          </a:xfrm>
          <a:prstGeom prst="rect">
            <a:avLst/>
          </a:prstGeom>
          <a:solidFill>
            <a:srgbClr val="6EB9FC"/>
          </a:solidFill>
          <a:ln/>
        </p:spPr>
      </p:sp>
      <p:sp>
        <p:nvSpPr>
          <p:cNvPr id="40" name="Shape 15"/>
          <p:cNvSpPr/>
          <p:nvPr/>
        </p:nvSpPr>
        <p:spPr>
          <a:xfrm>
            <a:off x="1109980" y="5345906"/>
            <a:ext cx="644525" cy="483394"/>
          </a:xfrm>
          <a:prstGeom prst="roundRect">
            <a:avLst>
              <a:gd name="adj" fmla="val 13334"/>
            </a:avLst>
          </a:prstGeom>
          <a:solidFill>
            <a:srgbClr val="363A4A"/>
          </a:solidFill>
          <a:ln/>
        </p:spPr>
      </p:sp>
      <p:sp>
        <p:nvSpPr>
          <p:cNvPr id="41" name="Text 16"/>
          <p:cNvSpPr/>
          <p:nvPr/>
        </p:nvSpPr>
        <p:spPr>
          <a:xfrm>
            <a:off x="1319531" y="5437168"/>
            <a:ext cx="225267" cy="303371"/>
          </a:xfrm>
          <a:prstGeom prst="rect">
            <a:avLst/>
          </a:prstGeom>
          <a:noFill/>
          <a:ln/>
        </p:spPr>
        <p:txBody>
          <a:bodyPr wrap="none" rtlCol="0" anchor="t"/>
          <a:lstStyle/>
          <a:p>
            <a:pPr marL="0" indent="0" algn="ctr">
              <a:lnSpc>
                <a:spcPts val="2388"/>
              </a:lnSpc>
              <a:buNone/>
            </a:pPr>
            <a:r>
              <a:rPr lang="en-US" sz="2388">
                <a:solidFill>
                  <a:srgbClr val="6EB9FC"/>
                </a:solidFill>
                <a:latin typeface="Tw Cen MT" pitchFamily="34" charset="0"/>
                <a:ea typeface="Lora" pitchFamily="34" charset="-122"/>
                <a:cs typeface="Lora" pitchFamily="34" charset="-120"/>
              </a:rPr>
              <a:t>3</a:t>
            </a:r>
            <a:endParaRPr lang="en-US" sz="2388">
              <a:latin typeface="Tw Cen MT" pitchFamily="34" charset="0"/>
            </a:endParaRPr>
          </a:p>
        </p:txBody>
      </p:sp>
      <p:sp>
        <p:nvSpPr>
          <p:cNvPr id="43" name="Text 18"/>
          <p:cNvSpPr/>
          <p:nvPr/>
        </p:nvSpPr>
        <p:spPr>
          <a:xfrm>
            <a:off x="2438400" y="5141596"/>
            <a:ext cx="8200571" cy="687705"/>
          </a:xfrm>
          <a:prstGeom prst="rect">
            <a:avLst/>
          </a:prstGeom>
          <a:noFill/>
          <a:ln/>
        </p:spPr>
        <p:txBody>
          <a:bodyPr wrap="square" rtlCol="0" anchor="t"/>
          <a:lstStyle/>
          <a:p>
            <a:pPr marL="0" indent="0" algn="just">
              <a:lnSpc>
                <a:spcPts val="2707"/>
              </a:lnSpc>
              <a:buNone/>
            </a:pPr>
            <a:r>
              <a:rPr lang="en-US" sz="2800">
                <a:latin typeface="Times New Roman" pitchFamily="18" charset="0"/>
                <a:ea typeface="Source Sans Pro" pitchFamily="34" charset="-122"/>
                <a:cs typeface="Times New Roman" pitchFamily="18" charset="0"/>
              </a:rPr>
              <a:t>The Frangi filter enhances the contrast between vessels and surrounding tissue, facilitating accurate segmentation and analysis of vessel characteristics.</a:t>
            </a:r>
            <a:endParaRPr lang="en-US" sz="2800">
              <a:latin typeface="Times New Roman" pitchFamily="18" charset="0"/>
              <a:cs typeface="Times New Roman" pitchFamily="18" charset="0"/>
            </a:endParaRPr>
          </a:p>
        </p:txBody>
      </p:sp>
      <p:pic>
        <p:nvPicPr>
          <p:cNvPr id="44" name="Image 1" descr="preencoded.png">
            <a:hlinkClick r:id="rId2"/>
          </p:cNvPr>
          <p:cNvPicPr>
            <a:picLocks noChangeAspect="1"/>
          </p:cNvPicPr>
          <p:nvPr/>
        </p:nvPicPr>
        <p:blipFill>
          <a:blip r:embed="rId3" cstate="print"/>
          <a:stretch>
            <a:fillRect/>
          </a:stretch>
        </p:blipFill>
        <p:spPr>
          <a:xfrm>
            <a:off x="16322872" y="7589520"/>
            <a:ext cx="3062409" cy="5486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004BBF-F9E6-166F-7829-6BE5D7B280F7}"/>
              </a:ext>
            </a:extLst>
          </p:cNvPr>
          <p:cNvSpPr>
            <a:spLocks noGrp="1"/>
          </p:cNvSpPr>
          <p:nvPr>
            <p:ph idx="1"/>
          </p:nvPr>
        </p:nvSpPr>
        <p:spPr>
          <a:xfrm>
            <a:off x="838200" y="344757"/>
            <a:ext cx="10515600" cy="4351338"/>
          </a:xfrm>
        </p:spPr>
        <p:txBody>
          <a:bodyPr vert="horz" lIns="91440" tIns="45720" rIns="91440" bIns="45720" rtlCol="0" anchor="t">
            <a:normAutofit/>
          </a:bodyPr>
          <a:lstStyle/>
          <a:p>
            <a:r>
              <a:rPr lang="en-US" sz="2600" b="1">
                <a:latin typeface="Times New Roman"/>
                <a:cs typeface="Times New Roman"/>
              </a:rPr>
              <a:t>Mask Creation and Inversion:</a:t>
            </a:r>
            <a:r>
              <a:rPr lang="en-US" sz="2600">
                <a:ea typeface="Calibri"/>
                <a:cs typeface="Calibri"/>
              </a:rPr>
              <a:t> </a:t>
            </a:r>
            <a:r>
              <a:rPr lang="en-US" sz="2600">
                <a:latin typeface="Times New Roman"/>
                <a:cs typeface="Times New Roman"/>
              </a:rPr>
              <a:t>A mask for the blood vessels is created by setting the pixels in the binary vessel image (where vessel intensity is greater than 0) to 255. Then, the mask is inverted to prepare for removing the vessels.</a:t>
            </a:r>
          </a:p>
          <a:p>
            <a:r>
              <a:rPr lang="en-US" sz="2600" b="1">
                <a:latin typeface="Times New Roman"/>
                <a:ea typeface="+mn-lt"/>
                <a:cs typeface="+mn-lt"/>
              </a:rPr>
              <a:t>Bitwise Operations:</a:t>
            </a:r>
            <a:r>
              <a:rPr lang="en-US">
                <a:latin typeface="Times New Roman"/>
                <a:ea typeface="+mn-lt"/>
                <a:cs typeface="+mn-lt"/>
              </a:rPr>
              <a:t> Used to isolate and remove the vessels from the image using the mask.</a:t>
            </a:r>
            <a:endParaRPr lang="en-US">
              <a:latin typeface="Times New Roman"/>
              <a:ea typeface="Calibri"/>
              <a:cs typeface="Times New Roman"/>
            </a:endParaRPr>
          </a:p>
          <a:p>
            <a:pPr algn="ctr">
              <a:buNone/>
            </a:pPr>
            <a:r>
              <a:rPr lang="en-US" b="1">
                <a:ea typeface="Calibri"/>
                <a:cs typeface="Calibri"/>
              </a:rPr>
              <a:t>OUTPUT OF BLOOD VESSELS SEGMENTATION</a:t>
            </a:r>
          </a:p>
        </p:txBody>
      </p:sp>
      <p:pic>
        <p:nvPicPr>
          <p:cNvPr id="4" name="Picture 3">
            <a:extLst>
              <a:ext uri="{FF2B5EF4-FFF2-40B4-BE49-F238E27FC236}">
                <a16:creationId xmlns:a16="http://schemas.microsoft.com/office/drawing/2014/main" id="{ED5FA443-A6C0-4E90-E183-A12FA3A63E4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97305" y="3429001"/>
            <a:ext cx="4604084" cy="2618874"/>
          </a:xfrm>
          <a:prstGeom prst="rect">
            <a:avLst/>
          </a:prstGeom>
          <a:noFill/>
          <a:ln>
            <a:noFill/>
          </a:ln>
        </p:spPr>
      </p:pic>
      <p:pic>
        <p:nvPicPr>
          <p:cNvPr id="5" name="Picture 4">
            <a:extLst>
              <a:ext uri="{FF2B5EF4-FFF2-40B4-BE49-F238E27FC236}">
                <a16:creationId xmlns:a16="http://schemas.microsoft.com/office/drawing/2014/main" id="{553257D9-6130-CD45-7C93-915492D969A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1222" y="3429001"/>
            <a:ext cx="4792578" cy="2618874"/>
          </a:xfrm>
          <a:prstGeom prst="rect">
            <a:avLst/>
          </a:prstGeom>
          <a:noFill/>
          <a:ln>
            <a:noFill/>
          </a:ln>
        </p:spPr>
      </p:pic>
    </p:spTree>
    <p:extLst>
      <p:ext uri="{BB962C8B-B14F-4D97-AF65-F5344CB8AC3E}">
        <p14:creationId xmlns:p14="http://schemas.microsoft.com/office/powerpoint/2010/main" val="2758081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B98EE-2E6E-FE2D-911D-903C29B7499F}"/>
              </a:ext>
            </a:extLst>
          </p:cNvPr>
          <p:cNvSpPr>
            <a:spLocks noGrp="1"/>
          </p:cNvSpPr>
          <p:nvPr>
            <p:ph type="title"/>
          </p:nvPr>
        </p:nvSpPr>
        <p:spPr>
          <a:xfrm>
            <a:off x="1622201" y="365125"/>
            <a:ext cx="8349848" cy="1351485"/>
          </a:xfrm>
        </p:spPr>
        <p:txBody>
          <a:bodyPr>
            <a:normAutofit/>
          </a:bodyPr>
          <a:lstStyle/>
          <a:p>
            <a:pPr algn="ctr"/>
            <a:r>
              <a:rPr lang="en-US" sz="3200" b="1" u="sng">
                <a:latin typeface="Times New Roman" pitchFamily="18" charset="0"/>
                <a:ea typeface="Calibri Light"/>
                <a:cs typeface="Times New Roman" pitchFamily="18" charset="0"/>
              </a:rPr>
              <a:t>SEGMENTATION OF HEMORRHAGES</a:t>
            </a:r>
            <a:endParaRPr lang="en-US" sz="3200" b="1" u="sng">
              <a:latin typeface="Times New Roman" pitchFamily="18" charset="0"/>
              <a:cs typeface="Times New Roman" pitchFamily="18" charset="0"/>
            </a:endParaRPr>
          </a:p>
        </p:txBody>
      </p:sp>
      <p:sp>
        <p:nvSpPr>
          <p:cNvPr id="3" name="Text Placeholder 2">
            <a:extLst>
              <a:ext uri="{FF2B5EF4-FFF2-40B4-BE49-F238E27FC236}">
                <a16:creationId xmlns:a16="http://schemas.microsoft.com/office/drawing/2014/main" id="{56C3B967-DCCC-71C8-2BA2-854A0E5B9986}"/>
              </a:ext>
            </a:extLst>
          </p:cNvPr>
          <p:cNvSpPr>
            <a:spLocks noGrp="1"/>
          </p:cNvSpPr>
          <p:nvPr>
            <p:ph type="body" idx="1"/>
          </p:nvPr>
        </p:nvSpPr>
        <p:spPr/>
        <p:txBody>
          <a:bodyPr vert="horz" lIns="91440" tIns="45720" rIns="91440" bIns="45720" rtlCol="0" anchor="t">
            <a:normAutofit/>
          </a:bodyPr>
          <a:lstStyle/>
          <a:p>
            <a:pPr algn="just"/>
            <a:r>
              <a:rPr lang="en-US" b="1">
                <a:latin typeface="Times New Roman"/>
                <a:ea typeface="+mn-lt"/>
                <a:cs typeface="+mn-lt"/>
              </a:rPr>
              <a:t>Enhancement</a:t>
            </a:r>
            <a:r>
              <a:rPr lang="en-US">
                <a:ea typeface="+mn-lt"/>
                <a:cs typeface="+mn-lt"/>
              </a:rPr>
              <a:t>: </a:t>
            </a:r>
            <a:r>
              <a:rPr lang="en-US">
                <a:latin typeface="Times New Roman"/>
                <a:ea typeface="+mn-lt"/>
                <a:cs typeface="+mn-lt"/>
              </a:rPr>
              <a:t>To improve the visibility of hemorrhages and make them easier to segment.</a:t>
            </a:r>
            <a:r>
              <a:rPr lang="en-US">
                <a:ea typeface="+mn-lt"/>
                <a:cs typeface="+mn-lt"/>
              </a:rPr>
              <a:t> </a:t>
            </a:r>
            <a:r>
              <a:rPr lang="en-US">
                <a:latin typeface="Times New Roman"/>
                <a:ea typeface="+mn-lt"/>
                <a:cs typeface="+mn-lt"/>
              </a:rPr>
              <a:t>Cleaner and more prominent segmentation of hemorrhages.</a:t>
            </a:r>
          </a:p>
          <a:p>
            <a:pPr algn="just"/>
            <a:r>
              <a:rPr lang="en-US" b="1">
                <a:latin typeface="Times New Roman"/>
                <a:ea typeface="+mn-lt"/>
                <a:cs typeface="+mn-lt"/>
              </a:rPr>
              <a:t>Thresholding:</a:t>
            </a:r>
            <a:r>
              <a:rPr lang="en-US">
                <a:latin typeface="Times New Roman"/>
                <a:ea typeface="+mn-lt"/>
                <a:cs typeface="+mn-lt"/>
              </a:rPr>
              <a:t> To separate hemorrhagic regions (dark) from the background</a:t>
            </a:r>
            <a:r>
              <a:rPr lang="en-US">
                <a:ea typeface="+mn-lt"/>
                <a:cs typeface="+mn-lt"/>
              </a:rPr>
              <a:t>.</a:t>
            </a:r>
            <a:r>
              <a:rPr lang="en-US">
                <a:latin typeface="Times New Roman"/>
                <a:ea typeface="+mn-lt"/>
                <a:cs typeface="+mn-lt"/>
              </a:rPr>
              <a:t> A binary image where hemorrhagic areas are white (255), and the background is black (0).</a:t>
            </a:r>
            <a:endParaRPr lang="en-US">
              <a:latin typeface="Times New Roman"/>
              <a:ea typeface="Calibri"/>
              <a:cs typeface="Calibri"/>
            </a:endParaRPr>
          </a:p>
          <a:p>
            <a:pPr algn="just"/>
            <a:r>
              <a:rPr lang="en-US" b="1">
                <a:latin typeface="Times New Roman"/>
                <a:ea typeface="+mn-lt"/>
                <a:cs typeface="+mn-lt"/>
              </a:rPr>
              <a:t>Contour:</a:t>
            </a:r>
            <a:r>
              <a:rPr lang="en-US">
                <a:latin typeface="Times New Roman"/>
                <a:ea typeface="+mn-lt"/>
                <a:cs typeface="+mn-lt"/>
              </a:rPr>
              <a:t> To identify the boundaries of connected hemorrhagic </a:t>
            </a:r>
            <a:r>
              <a:rPr lang="en-US" err="1">
                <a:latin typeface="Times New Roman"/>
                <a:ea typeface="+mn-lt"/>
                <a:cs typeface="+mn-lt"/>
              </a:rPr>
              <a:t>regions.Precise</a:t>
            </a:r>
            <a:r>
              <a:rPr lang="en-US">
                <a:latin typeface="Times New Roman"/>
                <a:ea typeface="+mn-lt"/>
                <a:cs typeface="+mn-lt"/>
              </a:rPr>
              <a:t> delineation of the hemorrhagic areas, which can be used to create a refined mask or analyze individual regions.</a:t>
            </a:r>
            <a:endParaRPr lang="en-US">
              <a:latin typeface="Times New Roman"/>
              <a:ea typeface="Calibri"/>
              <a:cs typeface="Calibri"/>
            </a:endParaRPr>
          </a:p>
          <a:p>
            <a:endParaRPr lang="en-US">
              <a:latin typeface="Times New Roman"/>
              <a:ea typeface="Calibri"/>
              <a:cs typeface="Calibri"/>
            </a:endParaRPr>
          </a:p>
          <a:p>
            <a:endParaRPr lang="en-US">
              <a:latin typeface="Times New Roman"/>
              <a:ea typeface="Calibri"/>
              <a:cs typeface="Calibri"/>
            </a:endParaRPr>
          </a:p>
          <a:p>
            <a:endParaRPr lang="en-US">
              <a:ea typeface="Calibri"/>
              <a:cs typeface="Calibri"/>
            </a:endParaRPr>
          </a:p>
        </p:txBody>
      </p:sp>
    </p:spTree>
    <p:extLst>
      <p:ext uri="{BB962C8B-B14F-4D97-AF65-F5344CB8AC3E}">
        <p14:creationId xmlns:p14="http://schemas.microsoft.com/office/powerpoint/2010/main" val="28406941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BD081C5-79BE-1817-27E7-816B830FA6DD}"/>
              </a:ext>
            </a:extLst>
          </p:cNvPr>
          <p:cNvSpPr txBox="1"/>
          <p:nvPr/>
        </p:nvSpPr>
        <p:spPr>
          <a:xfrm>
            <a:off x="590843" y="3954720"/>
            <a:ext cx="5205046"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latin typeface="Times New Roman"/>
              </a:rPr>
              <a:t>Fig1: Input Image with No Hemorrhages</a:t>
            </a:r>
            <a:r>
              <a:rPr lang="en-US" sz="2000">
                <a:latin typeface="Times New Roman"/>
                <a:cs typeface="Times New Roman"/>
              </a:rPr>
              <a:t>​ output</a:t>
            </a:r>
            <a:endParaRPr lang="en-US" sz="1400"/>
          </a:p>
        </p:txBody>
      </p:sp>
      <p:pic>
        <p:nvPicPr>
          <p:cNvPr id="9" name="Content Placeholder 8">
            <a:extLst>
              <a:ext uri="{FF2B5EF4-FFF2-40B4-BE49-F238E27FC236}">
                <a16:creationId xmlns:a16="http://schemas.microsoft.com/office/drawing/2014/main" id="{3598393F-1CFF-937A-C2B1-4479149373FB}"/>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01604" y="1100242"/>
            <a:ext cx="5383380" cy="2854454"/>
          </a:xfrm>
          <a:prstGeom prst="rect">
            <a:avLst/>
          </a:prstGeom>
          <a:noFill/>
          <a:ln>
            <a:noFill/>
          </a:ln>
        </p:spPr>
      </p:pic>
      <p:pic>
        <p:nvPicPr>
          <p:cNvPr id="10" name="Picture 9">
            <a:extLst>
              <a:ext uri="{FF2B5EF4-FFF2-40B4-BE49-F238E27FC236}">
                <a16:creationId xmlns:a16="http://schemas.microsoft.com/office/drawing/2014/main" id="{91131711-CE5B-5FBB-66AA-D20DAB522F5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164857" y="3285669"/>
            <a:ext cx="5215857" cy="2713556"/>
          </a:xfrm>
          <a:prstGeom prst="rect">
            <a:avLst/>
          </a:prstGeom>
          <a:noFill/>
          <a:ln>
            <a:noFill/>
          </a:ln>
        </p:spPr>
      </p:pic>
      <p:sp>
        <p:nvSpPr>
          <p:cNvPr id="6" name="Rectangle 5"/>
          <p:cNvSpPr/>
          <p:nvPr/>
        </p:nvSpPr>
        <p:spPr>
          <a:xfrm>
            <a:off x="1839993" y="332321"/>
            <a:ext cx="9020265" cy="523220"/>
          </a:xfrm>
          <a:prstGeom prst="rect">
            <a:avLst/>
          </a:prstGeom>
        </p:spPr>
        <p:txBody>
          <a:bodyPr wrap="square">
            <a:spAutoFit/>
          </a:bodyPr>
          <a:lstStyle/>
          <a:p>
            <a:r>
              <a:rPr lang="en-US" sz="2800" b="1">
                <a:latin typeface="Times New Roman" pitchFamily="18" charset="0"/>
                <a:ea typeface="Calibri"/>
                <a:cs typeface="Times New Roman" pitchFamily="18" charset="0"/>
              </a:rPr>
              <a:t>OUTPUT OF </a:t>
            </a:r>
            <a:r>
              <a:rPr lang="en-US" sz="2800" b="1">
                <a:latin typeface="Times New Roman"/>
              </a:rPr>
              <a:t>HEMORRHAGES </a:t>
            </a:r>
            <a:r>
              <a:rPr lang="en-US" sz="2800" b="1">
                <a:latin typeface="Times New Roman" pitchFamily="18" charset="0"/>
                <a:ea typeface="Calibri"/>
                <a:cs typeface="Times New Roman" pitchFamily="18" charset="0"/>
              </a:rPr>
              <a:t>SEGMENTATION</a:t>
            </a:r>
            <a:endParaRPr lang="en-US" sz="2800">
              <a:latin typeface="Times New Roman" pitchFamily="18" charset="0"/>
              <a:cs typeface="Times New Roman" pitchFamily="18" charset="0"/>
            </a:endParaRPr>
          </a:p>
        </p:txBody>
      </p:sp>
      <p:sp>
        <p:nvSpPr>
          <p:cNvPr id="11" name="TextBox 10">
            <a:extLst>
              <a:ext uri="{FF2B5EF4-FFF2-40B4-BE49-F238E27FC236}">
                <a16:creationId xmlns:a16="http://schemas.microsoft.com/office/drawing/2014/main" id="{7BD081C5-79BE-1817-27E7-816B830FA6DD}"/>
              </a:ext>
            </a:extLst>
          </p:cNvPr>
          <p:cNvSpPr txBox="1"/>
          <p:nvPr/>
        </p:nvSpPr>
        <p:spPr>
          <a:xfrm>
            <a:off x="6243711" y="6132868"/>
            <a:ext cx="5036234"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latin typeface="Times New Roman"/>
              </a:rPr>
              <a:t>Fig2: Input Image with Hemorrhages</a:t>
            </a:r>
            <a:r>
              <a:rPr lang="en-US" sz="2000">
                <a:latin typeface="Times New Roman"/>
                <a:cs typeface="Times New Roman"/>
              </a:rPr>
              <a:t>​ output</a:t>
            </a:r>
            <a:endParaRPr lang="en-US" sz="1400"/>
          </a:p>
        </p:txBody>
      </p:sp>
    </p:spTree>
    <p:extLst>
      <p:ext uri="{BB962C8B-B14F-4D97-AF65-F5344CB8AC3E}">
        <p14:creationId xmlns:p14="http://schemas.microsoft.com/office/powerpoint/2010/main" val="31475310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72A6-3D03-A07C-5A45-2DB3C8D5DBEB}"/>
              </a:ext>
            </a:extLst>
          </p:cNvPr>
          <p:cNvSpPr>
            <a:spLocks noGrp="1"/>
          </p:cNvSpPr>
          <p:nvPr>
            <p:ph type="title"/>
          </p:nvPr>
        </p:nvSpPr>
        <p:spPr>
          <a:xfrm>
            <a:off x="1111046" y="365125"/>
            <a:ext cx="10242754" cy="1325563"/>
          </a:xfrm>
        </p:spPr>
        <p:txBody>
          <a:bodyPr/>
          <a:lstStyle/>
          <a:p>
            <a:pPr algn="ctr"/>
            <a:r>
              <a:rPr lang="en-IN" b="1"/>
              <a:t>Classification and CNN Algorithm:</a:t>
            </a:r>
          </a:p>
        </p:txBody>
      </p:sp>
      <p:pic>
        <p:nvPicPr>
          <p:cNvPr id="6" name="Content Placeholder 5" descr="A diagram of a process&#10;&#10;AI-generated content may be incorrect.">
            <a:extLst>
              <a:ext uri="{FF2B5EF4-FFF2-40B4-BE49-F238E27FC236}">
                <a16:creationId xmlns:a16="http://schemas.microsoft.com/office/drawing/2014/main" id="{EF69AD32-A65A-46A6-6C88-61FA1AC530C7}"/>
              </a:ext>
            </a:extLst>
          </p:cNvPr>
          <p:cNvPicPr>
            <a:picLocks noGrp="1" noChangeAspect="1"/>
          </p:cNvPicPr>
          <p:nvPr>
            <p:ph idx="1"/>
          </p:nvPr>
        </p:nvPicPr>
        <p:blipFill>
          <a:blip r:embed="rId2"/>
          <a:stretch>
            <a:fillRect/>
          </a:stretch>
        </p:blipFill>
        <p:spPr>
          <a:xfrm>
            <a:off x="827903" y="2176605"/>
            <a:ext cx="10515600" cy="3299269"/>
          </a:xfrm>
        </p:spPr>
      </p:pic>
    </p:spTree>
    <p:extLst>
      <p:ext uri="{BB962C8B-B14F-4D97-AF65-F5344CB8AC3E}">
        <p14:creationId xmlns:p14="http://schemas.microsoft.com/office/powerpoint/2010/main" val="27819708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9028F-33EB-AC26-29D3-01550E425B36}"/>
              </a:ext>
            </a:extLst>
          </p:cNvPr>
          <p:cNvSpPr>
            <a:spLocks noGrp="1"/>
          </p:cNvSpPr>
          <p:nvPr>
            <p:ph type="title"/>
          </p:nvPr>
        </p:nvSpPr>
        <p:spPr/>
        <p:txBody>
          <a:bodyPr>
            <a:normAutofit/>
          </a:bodyPr>
          <a:lstStyle/>
          <a:p>
            <a:r>
              <a:rPr lang="en-GB" sz="2800" b="1" u="sng">
                <a:latin typeface="Times New Roman"/>
                <a:ea typeface="Calibri Light"/>
                <a:cs typeface="Calibri Light"/>
              </a:rPr>
              <a:t>2D CNN ALGORITHM:</a:t>
            </a:r>
            <a:endParaRPr lang="en-GB" sz="2800" b="1" u="sng">
              <a:latin typeface="Times New Roman"/>
            </a:endParaRPr>
          </a:p>
        </p:txBody>
      </p:sp>
      <p:sp>
        <p:nvSpPr>
          <p:cNvPr id="3" name="Content Placeholder 2">
            <a:extLst>
              <a:ext uri="{FF2B5EF4-FFF2-40B4-BE49-F238E27FC236}">
                <a16:creationId xmlns:a16="http://schemas.microsoft.com/office/drawing/2014/main" id="{29FD7F1E-05AC-B764-492F-3A708CD8B5C9}"/>
              </a:ext>
            </a:extLst>
          </p:cNvPr>
          <p:cNvSpPr>
            <a:spLocks noGrp="1"/>
          </p:cNvSpPr>
          <p:nvPr>
            <p:ph idx="1"/>
          </p:nvPr>
        </p:nvSpPr>
        <p:spPr>
          <a:xfrm>
            <a:off x="838200" y="1351173"/>
            <a:ext cx="10515600" cy="4825790"/>
          </a:xfrm>
        </p:spPr>
        <p:style>
          <a:lnRef idx="2">
            <a:schemeClr val="dk1"/>
          </a:lnRef>
          <a:fillRef idx="1">
            <a:schemeClr val="lt1"/>
          </a:fillRef>
          <a:effectRef idx="0">
            <a:schemeClr val="dk1"/>
          </a:effectRef>
          <a:fontRef idx="minor">
            <a:schemeClr val="dk1"/>
          </a:fontRef>
        </p:style>
        <p:txBody>
          <a:bodyPr vert="horz" lIns="91440" tIns="45720" rIns="91440" bIns="45720" rtlCol="0" anchor="t">
            <a:normAutofit/>
          </a:bodyPr>
          <a:lstStyle/>
          <a:p>
            <a:r>
              <a:rPr lang="en-GB" b="1" u="sng">
                <a:latin typeface="Times New Roman"/>
                <a:ea typeface="+mn-lt"/>
                <a:cs typeface="Times New Roman"/>
              </a:rPr>
              <a:t>Convolutional layer:</a:t>
            </a:r>
            <a:r>
              <a:rPr lang="en-GB" b="1">
                <a:latin typeface="Times New Roman"/>
                <a:ea typeface="+mn-lt"/>
                <a:cs typeface="Times New Roman"/>
              </a:rPr>
              <a:t> </a:t>
            </a:r>
            <a:endParaRPr lang="en-GB">
              <a:latin typeface="Times New Roman"/>
              <a:ea typeface="+mn-lt"/>
              <a:cs typeface="+mn-lt"/>
            </a:endParaRPr>
          </a:p>
          <a:p>
            <a:r>
              <a:rPr lang="en-GB">
                <a:latin typeface="Times New Roman"/>
                <a:ea typeface="+mn-lt"/>
                <a:cs typeface="+mn-lt"/>
              </a:rPr>
              <a:t>Applies 32 filters of size 3x3 to detect patterns in the image.</a:t>
            </a:r>
            <a:endParaRPr lang="en-GB">
              <a:latin typeface="Times New Roman"/>
              <a:ea typeface="Calibri"/>
              <a:cs typeface="Calibri"/>
            </a:endParaRPr>
          </a:p>
          <a:p>
            <a:r>
              <a:rPr lang="en-GB">
                <a:latin typeface="Times New Roman"/>
                <a:ea typeface="Calibri"/>
                <a:cs typeface="Calibri"/>
              </a:rPr>
              <a:t>Convolution is a mathematical operation used to extract the features of an image.</a:t>
            </a:r>
          </a:p>
          <a:p>
            <a:r>
              <a:rPr lang="en-GB">
                <a:latin typeface="Times New Roman"/>
                <a:ea typeface="+mn-lt"/>
                <a:cs typeface="+mn-lt"/>
              </a:rPr>
              <a:t>Feature enable image processing such as </a:t>
            </a:r>
            <a:r>
              <a:rPr lang="en-GB" err="1">
                <a:latin typeface="Times New Roman"/>
                <a:ea typeface="+mn-lt"/>
                <a:cs typeface="+mn-lt"/>
              </a:rPr>
              <a:t>bluring</a:t>
            </a:r>
            <a:r>
              <a:rPr lang="en-GB">
                <a:latin typeface="Times New Roman"/>
                <a:ea typeface="+mn-lt"/>
                <a:cs typeface="+mn-lt"/>
              </a:rPr>
              <a:t>, edge detection etc.</a:t>
            </a:r>
            <a:endParaRPr lang="en-GB">
              <a:latin typeface="Times New Roman"/>
              <a:ea typeface="Calibri"/>
              <a:cs typeface="Calibri"/>
            </a:endParaRPr>
          </a:p>
          <a:p>
            <a:r>
              <a:rPr lang="en-GB" b="1" u="sng">
                <a:latin typeface="Times New Roman"/>
                <a:ea typeface="Calibri"/>
                <a:cs typeface="Calibri"/>
              </a:rPr>
              <a:t>Example:</a:t>
            </a:r>
          </a:p>
          <a:p>
            <a:endParaRPr lang="en-GB">
              <a:latin typeface="Times New Roman"/>
              <a:ea typeface="Calibri"/>
              <a:cs typeface="Calibri"/>
            </a:endParaRPr>
          </a:p>
          <a:p>
            <a:pPr marL="0" indent="0">
              <a:buNone/>
            </a:pPr>
            <a:endParaRPr lang="en-GB">
              <a:latin typeface="Times New Roman"/>
              <a:ea typeface="Calibri"/>
              <a:cs typeface="Calibri"/>
            </a:endParaRPr>
          </a:p>
        </p:txBody>
      </p:sp>
      <p:sp>
        <p:nvSpPr>
          <p:cNvPr id="4" name="Double Bracket 3">
            <a:extLst>
              <a:ext uri="{FF2B5EF4-FFF2-40B4-BE49-F238E27FC236}">
                <a16:creationId xmlns:a16="http://schemas.microsoft.com/office/drawing/2014/main" id="{CA24F8F4-082F-8C3C-5E2A-02D01401760D}"/>
              </a:ext>
            </a:extLst>
          </p:cNvPr>
          <p:cNvSpPr/>
          <p:nvPr/>
        </p:nvSpPr>
        <p:spPr>
          <a:xfrm>
            <a:off x="1857608" y="4286050"/>
            <a:ext cx="2223430" cy="1895415"/>
          </a:xfrm>
          <a:prstGeom prst="bracketPair">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GB" sz="2000">
                <a:latin typeface="Times New Roman"/>
                <a:ea typeface="Calibri"/>
                <a:cs typeface="Calibri"/>
              </a:rPr>
              <a:t>1   3  5  7  9  0</a:t>
            </a:r>
          </a:p>
          <a:p>
            <a:pPr algn="ctr"/>
            <a:r>
              <a:rPr lang="en-GB" sz="2000">
                <a:latin typeface="Times New Roman"/>
                <a:ea typeface="Calibri"/>
                <a:cs typeface="Calibri"/>
              </a:rPr>
              <a:t>3  5  7  9  1  2</a:t>
            </a:r>
          </a:p>
          <a:p>
            <a:pPr algn="ctr"/>
            <a:r>
              <a:rPr lang="en-GB" sz="2000">
                <a:latin typeface="Times New Roman"/>
                <a:ea typeface="Calibri"/>
                <a:cs typeface="Calibri"/>
              </a:rPr>
              <a:t>5  7  9  1  2  4</a:t>
            </a:r>
          </a:p>
          <a:p>
            <a:pPr algn="ctr"/>
            <a:r>
              <a:rPr lang="en-GB" sz="2000">
                <a:latin typeface="Times New Roman"/>
                <a:ea typeface="Calibri"/>
                <a:cs typeface="Calibri"/>
              </a:rPr>
              <a:t>7  9  1  2  4  6</a:t>
            </a:r>
          </a:p>
          <a:p>
            <a:pPr algn="ctr"/>
            <a:r>
              <a:rPr lang="en-GB" sz="2000">
                <a:latin typeface="Times New Roman"/>
                <a:ea typeface="Calibri"/>
                <a:cs typeface="Calibri"/>
              </a:rPr>
              <a:t>1  2  4  0  3  8</a:t>
            </a:r>
          </a:p>
          <a:p>
            <a:pPr algn="ctr"/>
            <a:r>
              <a:rPr lang="en-GB" sz="2000">
                <a:latin typeface="Times New Roman"/>
                <a:ea typeface="Calibri"/>
                <a:cs typeface="Calibri"/>
              </a:rPr>
              <a:t>0  3  8  2  4  0</a:t>
            </a:r>
          </a:p>
        </p:txBody>
      </p:sp>
      <p:sp>
        <p:nvSpPr>
          <p:cNvPr id="8" name="TextBox 7">
            <a:extLst>
              <a:ext uri="{FF2B5EF4-FFF2-40B4-BE49-F238E27FC236}">
                <a16:creationId xmlns:a16="http://schemas.microsoft.com/office/drawing/2014/main" id="{16C4F452-F7CE-063A-A32C-35E191AC8EED}"/>
              </a:ext>
            </a:extLst>
          </p:cNvPr>
          <p:cNvSpPr txBox="1"/>
          <p:nvPr/>
        </p:nvSpPr>
        <p:spPr>
          <a:xfrm rot="-10800000" flipV="1">
            <a:off x="4628444" y="4817997"/>
            <a:ext cx="105833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latin typeface="Times New Roman"/>
                <a:ea typeface="Calibri"/>
                <a:cs typeface="Calibri"/>
              </a:rPr>
              <a:t>0 1 0</a:t>
            </a:r>
          </a:p>
          <a:p>
            <a:r>
              <a:rPr lang="en-GB">
                <a:latin typeface="Times New Roman"/>
                <a:ea typeface="Calibri"/>
                <a:cs typeface="Calibri"/>
              </a:rPr>
              <a:t>1 0 1</a:t>
            </a:r>
          </a:p>
          <a:p>
            <a:r>
              <a:rPr lang="en-GB">
                <a:latin typeface="Times New Roman"/>
                <a:ea typeface="Calibri"/>
                <a:cs typeface="Calibri"/>
              </a:rPr>
              <a:t>0 1 0</a:t>
            </a:r>
          </a:p>
        </p:txBody>
      </p:sp>
      <p:sp>
        <p:nvSpPr>
          <p:cNvPr id="9" name="Double Bracket 8">
            <a:extLst>
              <a:ext uri="{FF2B5EF4-FFF2-40B4-BE49-F238E27FC236}">
                <a16:creationId xmlns:a16="http://schemas.microsoft.com/office/drawing/2014/main" id="{27D626A4-21E8-C971-7651-975ADB996AFA}"/>
              </a:ext>
            </a:extLst>
          </p:cNvPr>
          <p:cNvSpPr/>
          <p:nvPr/>
        </p:nvSpPr>
        <p:spPr>
          <a:xfrm>
            <a:off x="4487333" y="4713111"/>
            <a:ext cx="1312333" cy="1241777"/>
          </a:xfrm>
          <a:prstGeom prst="bracketPair">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0" name="Equals 9">
            <a:extLst>
              <a:ext uri="{FF2B5EF4-FFF2-40B4-BE49-F238E27FC236}">
                <a16:creationId xmlns:a16="http://schemas.microsoft.com/office/drawing/2014/main" id="{D84D39EA-582C-EE62-C449-8119F7A0E6EA}"/>
              </a:ext>
            </a:extLst>
          </p:cNvPr>
          <p:cNvSpPr/>
          <p:nvPr/>
        </p:nvSpPr>
        <p:spPr>
          <a:xfrm>
            <a:off x="6406444" y="4981222"/>
            <a:ext cx="846666" cy="620888"/>
          </a:xfrm>
          <a:prstGeom prst="mathEqual">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1" name="Double Bracket 10">
            <a:extLst>
              <a:ext uri="{FF2B5EF4-FFF2-40B4-BE49-F238E27FC236}">
                <a16:creationId xmlns:a16="http://schemas.microsoft.com/office/drawing/2014/main" id="{A0E89786-9B02-5559-F719-5ED99DD7BAAE}"/>
              </a:ext>
            </a:extLst>
          </p:cNvPr>
          <p:cNvSpPr/>
          <p:nvPr/>
        </p:nvSpPr>
        <p:spPr>
          <a:xfrm>
            <a:off x="7351890" y="4600222"/>
            <a:ext cx="2130776" cy="1453444"/>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2" name="TextBox 11">
            <a:extLst>
              <a:ext uri="{FF2B5EF4-FFF2-40B4-BE49-F238E27FC236}">
                <a16:creationId xmlns:a16="http://schemas.microsoft.com/office/drawing/2014/main" id="{230D198D-3EEA-D257-96D5-D39B19C3FB6F}"/>
              </a:ext>
            </a:extLst>
          </p:cNvPr>
          <p:cNvSpPr txBox="1"/>
          <p:nvPr/>
        </p:nvSpPr>
        <p:spPr>
          <a:xfrm>
            <a:off x="7521223" y="4713110"/>
            <a:ext cx="1961443"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latin typeface="Times New Roman"/>
                <a:ea typeface="Calibri"/>
                <a:cs typeface="Calibri"/>
              </a:rPr>
              <a:t>20 28 16     22  </a:t>
            </a:r>
          </a:p>
          <a:p>
            <a:r>
              <a:rPr lang="en-GB" dirty="0">
                <a:latin typeface="Times New Roman"/>
                <a:ea typeface="Calibri"/>
                <a:cs typeface="Calibri"/>
              </a:rPr>
              <a:t>28    16    20   10 </a:t>
            </a:r>
            <a:endParaRPr lang="en-GB" dirty="0">
              <a:latin typeface="Times New Roman"/>
              <a:cs typeface="Times New Roman"/>
            </a:endParaRPr>
          </a:p>
          <a:p>
            <a:r>
              <a:rPr lang="en-GB" dirty="0">
                <a:latin typeface="Times New Roman"/>
                <a:ea typeface="Calibri"/>
                <a:cs typeface="Calibri"/>
              </a:rPr>
              <a:t>17 24 6   13</a:t>
            </a:r>
          </a:p>
          <a:p>
            <a:r>
              <a:rPr lang="en-GB" dirty="0">
                <a:latin typeface="Times New Roman"/>
                <a:ea typeface="Calibri"/>
                <a:cs typeface="Calibri"/>
              </a:rPr>
              <a:t>17 11 11    16</a:t>
            </a:r>
          </a:p>
        </p:txBody>
      </p:sp>
    </p:spTree>
    <p:extLst>
      <p:ext uri="{BB962C8B-B14F-4D97-AF65-F5344CB8AC3E}">
        <p14:creationId xmlns:p14="http://schemas.microsoft.com/office/powerpoint/2010/main" val="17382278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FEAD5-462B-DC72-20E4-7C2634EC1CD0}"/>
              </a:ext>
            </a:extLst>
          </p:cNvPr>
          <p:cNvSpPr>
            <a:spLocks noGrp="1"/>
          </p:cNvSpPr>
          <p:nvPr>
            <p:ph type="title"/>
          </p:nvPr>
        </p:nvSpPr>
        <p:spPr>
          <a:xfrm>
            <a:off x="838200" y="1084791"/>
            <a:ext cx="10515600" cy="747008"/>
          </a:xfrm>
        </p:spPr>
        <p:txBody>
          <a:bodyPr>
            <a:normAutofit/>
          </a:bodyPr>
          <a:lstStyle/>
          <a:p>
            <a:r>
              <a:rPr lang="en-GB" sz="2800" b="1" u="sng">
                <a:latin typeface="Times New Roman"/>
                <a:ea typeface="Calibri Light"/>
                <a:cs typeface="Calibri Light"/>
              </a:rPr>
              <a:t>MAX POOLING LAYER:</a:t>
            </a:r>
          </a:p>
        </p:txBody>
      </p:sp>
      <p:sp>
        <p:nvSpPr>
          <p:cNvPr id="3" name="Content Placeholder 2">
            <a:extLst>
              <a:ext uri="{FF2B5EF4-FFF2-40B4-BE49-F238E27FC236}">
                <a16:creationId xmlns:a16="http://schemas.microsoft.com/office/drawing/2014/main" id="{F363AF78-D94F-DEB2-56FA-4F5267A97B72}"/>
              </a:ext>
            </a:extLst>
          </p:cNvPr>
          <p:cNvSpPr>
            <a:spLocks noGrp="1"/>
          </p:cNvSpPr>
          <p:nvPr>
            <p:ph idx="1"/>
          </p:nvPr>
        </p:nvSpPr>
        <p:spPr/>
        <p:txBody>
          <a:bodyPr vert="horz" lIns="91440" tIns="45720" rIns="91440" bIns="45720" rtlCol="0" anchor="t">
            <a:normAutofit/>
          </a:bodyPr>
          <a:lstStyle/>
          <a:p>
            <a:r>
              <a:rPr lang="en-GB" sz="2400">
                <a:latin typeface="Times New Roman"/>
                <a:ea typeface="+mn-lt"/>
                <a:cs typeface="+mn-lt"/>
              </a:rPr>
              <a:t>Reduces Complexity of the image data by down.</a:t>
            </a:r>
          </a:p>
          <a:p>
            <a:r>
              <a:rPr lang="en-GB" sz="2400">
                <a:latin typeface="Times New Roman"/>
                <a:ea typeface="+mn-lt"/>
                <a:cs typeface="+mn-lt"/>
              </a:rPr>
              <a:t>Sampling the feature maps.</a:t>
            </a:r>
            <a:endParaRPr lang="en-GB" sz="2400">
              <a:latin typeface="Times New Roman"/>
              <a:ea typeface="Calibri"/>
              <a:cs typeface="Calibri"/>
            </a:endParaRPr>
          </a:p>
          <a:p>
            <a:r>
              <a:rPr lang="en-GB" sz="2400">
                <a:latin typeface="Times New Roman"/>
                <a:ea typeface="+mn-lt"/>
                <a:cs typeface="+mn-lt"/>
              </a:rPr>
              <a:t>It focuses on essential details and maintain the overall pattern or Structure.</a:t>
            </a:r>
            <a:endParaRPr lang="en-GB" sz="2400">
              <a:latin typeface="Times New Roman"/>
              <a:ea typeface="Calibri"/>
              <a:cs typeface="Calibri"/>
            </a:endParaRPr>
          </a:p>
          <a:p>
            <a:r>
              <a:rPr lang="en-GB" sz="2400">
                <a:latin typeface="Times New Roman"/>
                <a:ea typeface="+mn-lt"/>
                <a:cs typeface="+mn-lt"/>
              </a:rPr>
              <a:t>Reduces the Spatial Size of the image.</a:t>
            </a:r>
            <a:endParaRPr lang="en-GB" sz="2400">
              <a:latin typeface="Times New Roman"/>
              <a:ea typeface="Calibri"/>
              <a:cs typeface="Calibri"/>
            </a:endParaRPr>
          </a:p>
          <a:p>
            <a:r>
              <a:rPr lang="en-GB" sz="2400">
                <a:latin typeface="Times New Roman"/>
                <a:ea typeface="+mn-lt"/>
                <a:cs typeface="+mn-lt"/>
              </a:rPr>
              <a:t>Takes 2x2 window and selects the max value in the region.</a:t>
            </a:r>
            <a:endParaRPr lang="en-GB" sz="2400">
              <a:latin typeface="Times New Roman"/>
              <a:ea typeface="Calibri"/>
              <a:cs typeface="Calibri"/>
            </a:endParaRPr>
          </a:p>
          <a:p>
            <a:r>
              <a:rPr lang="en-GB" sz="2400">
                <a:latin typeface="Times New Roman"/>
                <a:ea typeface="+mn-lt"/>
                <a:cs typeface="+mn-lt"/>
              </a:rPr>
              <a:t>Now, it's reduces computation and helps in generalization.</a:t>
            </a:r>
            <a:endParaRPr lang="en-GB" sz="2400">
              <a:latin typeface="Times New Roman"/>
              <a:ea typeface="Calibri"/>
              <a:cs typeface="Calibri"/>
            </a:endParaRPr>
          </a:p>
          <a:p>
            <a:r>
              <a:rPr lang="en-GB" sz="2400" b="1" u="sng">
                <a:latin typeface="Times New Roman"/>
                <a:ea typeface="Calibri"/>
                <a:cs typeface="Calibri"/>
              </a:rPr>
              <a:t>Example:</a:t>
            </a:r>
          </a:p>
          <a:p>
            <a:endParaRPr lang="en-GB" sz="2400">
              <a:latin typeface="Times New Roman"/>
              <a:ea typeface="Calibri"/>
              <a:cs typeface="Calibri"/>
            </a:endParaRPr>
          </a:p>
          <a:p>
            <a:endParaRPr lang="en-GB" sz="2400">
              <a:latin typeface="Times New Roman"/>
              <a:ea typeface="Calibri"/>
              <a:cs typeface="Calibri"/>
            </a:endParaRPr>
          </a:p>
          <a:p>
            <a:endParaRPr lang="en-GB" sz="2400">
              <a:latin typeface="Times New Roman"/>
              <a:ea typeface="Calibri"/>
              <a:cs typeface="Calibri"/>
            </a:endParaRPr>
          </a:p>
          <a:p>
            <a:endParaRPr lang="en-GB" sz="2400">
              <a:latin typeface="Times New Roman"/>
              <a:ea typeface="Calibri"/>
              <a:cs typeface="Calibri"/>
            </a:endParaRPr>
          </a:p>
        </p:txBody>
      </p:sp>
      <p:sp>
        <p:nvSpPr>
          <p:cNvPr id="4" name="Double Bracket 3">
            <a:extLst>
              <a:ext uri="{FF2B5EF4-FFF2-40B4-BE49-F238E27FC236}">
                <a16:creationId xmlns:a16="http://schemas.microsoft.com/office/drawing/2014/main" id="{C62322F9-8048-4553-7CAE-428BFF3894BB}"/>
              </a:ext>
            </a:extLst>
          </p:cNvPr>
          <p:cNvSpPr/>
          <p:nvPr/>
        </p:nvSpPr>
        <p:spPr>
          <a:xfrm>
            <a:off x="2116666" y="5207000"/>
            <a:ext cx="1693333" cy="1453444"/>
          </a:xfrm>
          <a:prstGeom prst="bracketPair">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5" name="TextBox 4">
            <a:extLst>
              <a:ext uri="{FF2B5EF4-FFF2-40B4-BE49-F238E27FC236}">
                <a16:creationId xmlns:a16="http://schemas.microsoft.com/office/drawing/2014/main" id="{1055922E-A95B-86F8-88F2-6F64198B58B1}"/>
              </a:ext>
            </a:extLst>
          </p:cNvPr>
          <p:cNvSpPr txBox="1"/>
          <p:nvPr/>
        </p:nvSpPr>
        <p:spPr>
          <a:xfrm>
            <a:off x="2271889" y="5348111"/>
            <a:ext cx="1425222" cy="153888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900">
                <a:latin typeface="Times New Roman"/>
                <a:ea typeface="Calibri"/>
                <a:cs typeface="Calibri"/>
              </a:rPr>
              <a:t>3 2 0 0</a:t>
            </a:r>
          </a:p>
          <a:p>
            <a:r>
              <a:rPr lang="en-GB" sz="1900">
                <a:latin typeface="Times New Roman"/>
                <a:ea typeface="Calibri"/>
                <a:cs typeface="Calibri"/>
              </a:rPr>
              <a:t>0 7 1 3</a:t>
            </a:r>
          </a:p>
          <a:p>
            <a:r>
              <a:rPr lang="en-GB" sz="1900">
                <a:latin typeface="Times New Roman"/>
                <a:ea typeface="Calibri"/>
                <a:cs typeface="Calibri"/>
              </a:rPr>
              <a:t>5 2 3 0</a:t>
            </a:r>
          </a:p>
          <a:p>
            <a:r>
              <a:rPr lang="en-GB" sz="1900">
                <a:latin typeface="Times New Roman"/>
                <a:ea typeface="Calibri"/>
                <a:cs typeface="Calibri"/>
              </a:rPr>
              <a:t>0 9 2 3</a:t>
            </a:r>
          </a:p>
          <a:p>
            <a:endParaRPr lang="en-GB">
              <a:ea typeface="Calibri"/>
              <a:cs typeface="Calibri"/>
            </a:endParaRPr>
          </a:p>
        </p:txBody>
      </p:sp>
      <p:sp>
        <p:nvSpPr>
          <p:cNvPr id="6" name="Equals 5">
            <a:extLst>
              <a:ext uri="{FF2B5EF4-FFF2-40B4-BE49-F238E27FC236}">
                <a16:creationId xmlns:a16="http://schemas.microsoft.com/office/drawing/2014/main" id="{47AC1AC7-6729-AC56-4027-DE7600E96B9C}"/>
              </a:ext>
            </a:extLst>
          </p:cNvPr>
          <p:cNvSpPr/>
          <p:nvPr/>
        </p:nvSpPr>
        <p:spPr>
          <a:xfrm>
            <a:off x="3937000" y="5602110"/>
            <a:ext cx="804333" cy="423333"/>
          </a:xfrm>
          <a:prstGeom prst="mathEqual">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 name="Double Bracket 6">
            <a:extLst>
              <a:ext uri="{FF2B5EF4-FFF2-40B4-BE49-F238E27FC236}">
                <a16:creationId xmlns:a16="http://schemas.microsoft.com/office/drawing/2014/main" id="{9AD653FB-2DBC-37BF-6F12-D6E567907C11}"/>
              </a:ext>
            </a:extLst>
          </p:cNvPr>
          <p:cNvSpPr/>
          <p:nvPr/>
        </p:nvSpPr>
        <p:spPr>
          <a:xfrm>
            <a:off x="4882444" y="5390444"/>
            <a:ext cx="1001887" cy="832556"/>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8" name="TextBox 7">
            <a:extLst>
              <a:ext uri="{FF2B5EF4-FFF2-40B4-BE49-F238E27FC236}">
                <a16:creationId xmlns:a16="http://schemas.microsoft.com/office/drawing/2014/main" id="{B1A01D33-4F99-95A9-0262-21491B366ACD}"/>
              </a:ext>
            </a:extLst>
          </p:cNvPr>
          <p:cNvSpPr txBox="1"/>
          <p:nvPr/>
        </p:nvSpPr>
        <p:spPr>
          <a:xfrm>
            <a:off x="5051778" y="5461000"/>
            <a:ext cx="1382888"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900">
                <a:latin typeface="Times New Roman"/>
                <a:ea typeface="Calibri"/>
                <a:cs typeface="Calibri"/>
              </a:rPr>
              <a:t>7 3</a:t>
            </a:r>
          </a:p>
          <a:p>
            <a:r>
              <a:rPr lang="en-GB" sz="1900">
                <a:latin typeface="Times New Roman"/>
                <a:ea typeface="Calibri"/>
                <a:cs typeface="Calibri"/>
              </a:rPr>
              <a:t>9 3</a:t>
            </a:r>
          </a:p>
        </p:txBody>
      </p:sp>
      <p:sp>
        <p:nvSpPr>
          <p:cNvPr id="9" name="TextBox 8">
            <a:extLst>
              <a:ext uri="{FF2B5EF4-FFF2-40B4-BE49-F238E27FC236}">
                <a16:creationId xmlns:a16="http://schemas.microsoft.com/office/drawing/2014/main" id="{A6CDACD7-4A0D-D5B1-B345-249C374B04F1}"/>
              </a:ext>
            </a:extLst>
          </p:cNvPr>
          <p:cNvSpPr txBox="1"/>
          <p:nvPr/>
        </p:nvSpPr>
        <p:spPr>
          <a:xfrm>
            <a:off x="5051778" y="6406444"/>
            <a:ext cx="169333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b="1">
                <a:latin typeface="Times New Roman"/>
                <a:ea typeface="Calibri"/>
                <a:cs typeface="Calibri"/>
              </a:rPr>
              <a:t>Max value</a:t>
            </a:r>
            <a:endParaRPr lang="en-GB" sz="2000" b="1">
              <a:latin typeface="Times New Roman"/>
            </a:endParaRPr>
          </a:p>
        </p:txBody>
      </p:sp>
    </p:spTree>
    <p:extLst>
      <p:ext uri="{BB962C8B-B14F-4D97-AF65-F5344CB8AC3E}">
        <p14:creationId xmlns:p14="http://schemas.microsoft.com/office/powerpoint/2010/main" val="3426461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46A3CD3-0FBB-CF83-04FB-FFD4E88237EB}"/>
              </a:ext>
            </a:extLst>
          </p:cNvPr>
          <p:cNvSpPr txBox="1"/>
          <p:nvPr/>
        </p:nvSpPr>
        <p:spPr>
          <a:xfrm>
            <a:off x="289826" y="414036"/>
            <a:ext cx="11303277" cy="48936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u="sng">
                <a:ea typeface="Calibri"/>
                <a:cs typeface="Calibri"/>
              </a:rPr>
              <a:t>Flattening Layer:</a:t>
            </a:r>
          </a:p>
          <a:p>
            <a:pPr marL="457200" indent="-457200">
              <a:buFont typeface="Arial"/>
              <a:buChar char="•"/>
            </a:pPr>
            <a:r>
              <a:rPr lang="en-US" sz="2800">
                <a:ea typeface="Calibri"/>
                <a:cs typeface="Calibri"/>
              </a:rPr>
              <a:t>Converts the 2D Feature maps into a 1D Vector to Pass into the Fully Connected Layer.</a:t>
            </a:r>
            <a:endParaRPr lang="en-US" sz="2800" dirty="0">
              <a:ea typeface="Calibri"/>
              <a:cs typeface="Calibri"/>
            </a:endParaRPr>
          </a:p>
          <a:p>
            <a:r>
              <a:rPr lang="en-US" sz="2800" b="1">
                <a:ea typeface="Calibri"/>
                <a:cs typeface="Calibri"/>
              </a:rPr>
              <a:t>Example:</a:t>
            </a:r>
          </a:p>
          <a:p>
            <a:endParaRPr lang="en-US" sz="2800" b="1">
              <a:ea typeface="Calibri"/>
              <a:cs typeface="Calibri"/>
            </a:endParaRPr>
          </a:p>
          <a:p>
            <a:endParaRPr lang="en-US" sz="2800" b="1" dirty="0">
              <a:ea typeface="Calibri"/>
              <a:cs typeface="Calibri"/>
            </a:endParaRPr>
          </a:p>
          <a:p>
            <a:endParaRPr lang="en-US" sz="2800" b="1">
              <a:ea typeface="Calibri"/>
              <a:cs typeface="Calibri"/>
            </a:endParaRPr>
          </a:p>
          <a:p>
            <a:endParaRPr lang="en-US" sz="2800" b="1" u="sng" dirty="0">
              <a:ea typeface="Calibri"/>
              <a:cs typeface="Calibri"/>
            </a:endParaRPr>
          </a:p>
          <a:p>
            <a:endParaRPr lang="en-US" sz="2800" b="1" u="sng" dirty="0">
              <a:ea typeface="Calibri"/>
              <a:cs typeface="Calibri"/>
            </a:endParaRPr>
          </a:p>
          <a:p>
            <a:endParaRPr lang="en-US" sz="2800" b="1" u="sng" dirty="0">
              <a:ea typeface="Calibri"/>
              <a:cs typeface="Calibri"/>
            </a:endParaRPr>
          </a:p>
          <a:p>
            <a:endParaRPr lang="en-US" sz="3200" b="1">
              <a:ea typeface="Calibri"/>
              <a:cs typeface="Calibri"/>
            </a:endParaRPr>
          </a:p>
        </p:txBody>
      </p:sp>
      <p:sp>
        <p:nvSpPr>
          <p:cNvPr id="11" name="Double Bracket 10">
            <a:extLst>
              <a:ext uri="{FF2B5EF4-FFF2-40B4-BE49-F238E27FC236}">
                <a16:creationId xmlns:a16="http://schemas.microsoft.com/office/drawing/2014/main" id="{5033988F-7C61-90EF-483E-040C787DD824}"/>
              </a:ext>
            </a:extLst>
          </p:cNvPr>
          <p:cNvSpPr/>
          <p:nvPr/>
        </p:nvSpPr>
        <p:spPr>
          <a:xfrm>
            <a:off x="2116666" y="2432170"/>
            <a:ext cx="1693333" cy="1453444"/>
          </a:xfrm>
          <a:prstGeom prst="bracketPair">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2" name="TextBox 11">
            <a:extLst>
              <a:ext uri="{FF2B5EF4-FFF2-40B4-BE49-F238E27FC236}">
                <a16:creationId xmlns:a16="http://schemas.microsoft.com/office/drawing/2014/main" id="{591275D7-E15B-9F13-EB52-C14F314E76E9}"/>
              </a:ext>
            </a:extLst>
          </p:cNvPr>
          <p:cNvSpPr txBox="1"/>
          <p:nvPr/>
        </p:nvSpPr>
        <p:spPr>
          <a:xfrm>
            <a:off x="2112098" y="2419818"/>
            <a:ext cx="2332361"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ea typeface="Calibri"/>
                <a:cs typeface="Calibri"/>
              </a:rPr>
              <a:t>3     6     7</a:t>
            </a:r>
          </a:p>
          <a:p>
            <a:r>
              <a:rPr lang="en-US" sz="3200" dirty="0">
                <a:ea typeface="Calibri"/>
                <a:cs typeface="Calibri"/>
              </a:rPr>
              <a:t>7     8     6</a:t>
            </a:r>
          </a:p>
          <a:p>
            <a:r>
              <a:rPr lang="en-US" sz="3200" dirty="0">
                <a:ea typeface="Calibri"/>
                <a:cs typeface="Calibri"/>
              </a:rPr>
              <a:t>3     5     7</a:t>
            </a:r>
          </a:p>
        </p:txBody>
      </p:sp>
      <p:graphicFrame>
        <p:nvGraphicFramePr>
          <p:cNvPr id="14" name="Table 13">
            <a:extLst>
              <a:ext uri="{FF2B5EF4-FFF2-40B4-BE49-F238E27FC236}">
                <a16:creationId xmlns:a16="http://schemas.microsoft.com/office/drawing/2014/main" id="{4C738AFE-BF5F-3921-9DD1-DC560BE3D948}"/>
              </a:ext>
            </a:extLst>
          </p:cNvPr>
          <p:cNvGraphicFramePr>
            <a:graphicFrameLocks noGrp="1"/>
          </p:cNvGraphicFramePr>
          <p:nvPr>
            <p:extLst>
              <p:ext uri="{D42A27DB-BD31-4B8C-83A1-F6EECF244321}">
                <p14:modId xmlns:p14="http://schemas.microsoft.com/office/powerpoint/2010/main" val="1944832098"/>
              </p:ext>
            </p:extLst>
          </p:nvPr>
        </p:nvGraphicFramePr>
        <p:xfrm>
          <a:off x="5937848" y="1710906"/>
          <a:ext cx="664012" cy="3657600"/>
        </p:xfrm>
        <a:graphic>
          <a:graphicData uri="http://schemas.openxmlformats.org/drawingml/2006/table">
            <a:tbl>
              <a:tblPr firstRow="1" firstCol="1" bandRow="1">
                <a:tableStyleId>{5940675A-B579-460E-94D1-54222C63F5DA}</a:tableStyleId>
              </a:tblPr>
              <a:tblGrid>
                <a:gridCol w="664012">
                  <a:extLst>
                    <a:ext uri="{9D8B030D-6E8A-4147-A177-3AD203B41FA5}">
                      <a16:colId xmlns:a16="http://schemas.microsoft.com/office/drawing/2014/main" val="836569864"/>
                    </a:ext>
                  </a:extLst>
                </a:gridCol>
              </a:tblGrid>
              <a:tr h="388500">
                <a:tc>
                  <a:txBody>
                    <a:bodyPr/>
                    <a:lstStyle/>
                    <a:p>
                      <a:r>
                        <a:rPr lang="en-US" sz="2400" dirty="0"/>
                        <a:t>3</a:t>
                      </a:r>
                    </a:p>
                  </a:txBody>
                  <a:tcPr/>
                </a:tc>
                <a:extLst>
                  <a:ext uri="{0D108BD9-81ED-4DB2-BD59-A6C34878D82A}">
                    <a16:rowId xmlns:a16="http://schemas.microsoft.com/office/drawing/2014/main" val="3583662504"/>
                  </a:ext>
                </a:extLst>
              </a:tr>
              <a:tr h="388500">
                <a:tc>
                  <a:txBody>
                    <a:bodyPr/>
                    <a:lstStyle/>
                    <a:p>
                      <a:r>
                        <a:rPr lang="en-US" sz="2400" dirty="0"/>
                        <a:t>7</a:t>
                      </a:r>
                    </a:p>
                  </a:txBody>
                  <a:tcPr/>
                </a:tc>
                <a:extLst>
                  <a:ext uri="{0D108BD9-81ED-4DB2-BD59-A6C34878D82A}">
                    <a16:rowId xmlns:a16="http://schemas.microsoft.com/office/drawing/2014/main" val="2839326023"/>
                  </a:ext>
                </a:extLst>
              </a:tr>
              <a:tr h="388500">
                <a:tc>
                  <a:txBody>
                    <a:bodyPr/>
                    <a:lstStyle/>
                    <a:p>
                      <a:r>
                        <a:rPr lang="en-US" sz="2400" dirty="0"/>
                        <a:t>3</a:t>
                      </a:r>
                    </a:p>
                  </a:txBody>
                  <a:tcPr/>
                </a:tc>
                <a:extLst>
                  <a:ext uri="{0D108BD9-81ED-4DB2-BD59-A6C34878D82A}">
                    <a16:rowId xmlns:a16="http://schemas.microsoft.com/office/drawing/2014/main" val="3769565692"/>
                  </a:ext>
                </a:extLst>
              </a:tr>
              <a:tr h="388500">
                <a:tc>
                  <a:txBody>
                    <a:bodyPr/>
                    <a:lstStyle/>
                    <a:p>
                      <a:r>
                        <a:rPr lang="en-US" sz="2400" dirty="0"/>
                        <a:t>6</a:t>
                      </a:r>
                    </a:p>
                  </a:txBody>
                  <a:tcPr/>
                </a:tc>
                <a:extLst>
                  <a:ext uri="{0D108BD9-81ED-4DB2-BD59-A6C34878D82A}">
                    <a16:rowId xmlns:a16="http://schemas.microsoft.com/office/drawing/2014/main" val="770167127"/>
                  </a:ext>
                </a:extLst>
              </a:tr>
              <a:tr h="388500">
                <a:tc>
                  <a:txBody>
                    <a:bodyPr/>
                    <a:lstStyle/>
                    <a:p>
                      <a:r>
                        <a:rPr lang="en-US" sz="2400" dirty="0"/>
                        <a:t>8</a:t>
                      </a:r>
                    </a:p>
                  </a:txBody>
                  <a:tcPr/>
                </a:tc>
                <a:extLst>
                  <a:ext uri="{0D108BD9-81ED-4DB2-BD59-A6C34878D82A}">
                    <a16:rowId xmlns:a16="http://schemas.microsoft.com/office/drawing/2014/main" val="681425432"/>
                  </a:ext>
                </a:extLst>
              </a:tr>
              <a:tr h="388500">
                <a:tc>
                  <a:txBody>
                    <a:bodyPr/>
                    <a:lstStyle/>
                    <a:p>
                      <a:r>
                        <a:rPr lang="en-US" sz="2400" dirty="0"/>
                        <a:t>5</a:t>
                      </a:r>
                    </a:p>
                  </a:txBody>
                  <a:tcPr/>
                </a:tc>
                <a:extLst>
                  <a:ext uri="{0D108BD9-81ED-4DB2-BD59-A6C34878D82A}">
                    <a16:rowId xmlns:a16="http://schemas.microsoft.com/office/drawing/2014/main" val="4048939720"/>
                  </a:ext>
                </a:extLst>
              </a:tr>
              <a:tr h="388500">
                <a:tc>
                  <a:txBody>
                    <a:bodyPr/>
                    <a:lstStyle/>
                    <a:p>
                      <a:r>
                        <a:rPr lang="en-US" sz="2400" dirty="0"/>
                        <a:t>7</a:t>
                      </a:r>
                    </a:p>
                  </a:txBody>
                  <a:tcPr/>
                </a:tc>
                <a:extLst>
                  <a:ext uri="{0D108BD9-81ED-4DB2-BD59-A6C34878D82A}">
                    <a16:rowId xmlns:a16="http://schemas.microsoft.com/office/drawing/2014/main" val="4060343847"/>
                  </a:ext>
                </a:extLst>
              </a:tr>
              <a:tr h="388500">
                <a:tc>
                  <a:txBody>
                    <a:bodyPr/>
                    <a:lstStyle/>
                    <a:p>
                      <a:r>
                        <a:rPr lang="en-US" sz="2400" dirty="0"/>
                        <a:t>6</a:t>
                      </a:r>
                      <a:endParaRPr lang="en-US" sz="2400"/>
                    </a:p>
                  </a:txBody>
                  <a:tcPr/>
                </a:tc>
                <a:extLst>
                  <a:ext uri="{0D108BD9-81ED-4DB2-BD59-A6C34878D82A}">
                    <a16:rowId xmlns:a16="http://schemas.microsoft.com/office/drawing/2014/main" val="3933438556"/>
                  </a:ext>
                </a:extLst>
              </a:tr>
            </a:tbl>
          </a:graphicData>
        </a:graphic>
      </p:graphicFrame>
      <p:graphicFrame>
        <p:nvGraphicFramePr>
          <p:cNvPr id="15" name="Table 14">
            <a:extLst>
              <a:ext uri="{FF2B5EF4-FFF2-40B4-BE49-F238E27FC236}">
                <a16:creationId xmlns:a16="http://schemas.microsoft.com/office/drawing/2014/main" id="{F13AB159-FDD5-E253-BBF0-2AEE5F250F85}"/>
              </a:ext>
            </a:extLst>
          </p:cNvPr>
          <p:cNvGraphicFramePr>
            <a:graphicFrameLocks noGrp="1"/>
          </p:cNvGraphicFramePr>
          <p:nvPr>
            <p:extLst>
              <p:ext uri="{D42A27DB-BD31-4B8C-83A1-F6EECF244321}">
                <p14:modId xmlns:p14="http://schemas.microsoft.com/office/powerpoint/2010/main" val="2939502471"/>
              </p:ext>
            </p:extLst>
          </p:nvPr>
        </p:nvGraphicFramePr>
        <p:xfrm>
          <a:off x="5952226" y="5334000"/>
          <a:ext cx="647364" cy="457200"/>
        </p:xfrm>
        <a:graphic>
          <a:graphicData uri="http://schemas.openxmlformats.org/drawingml/2006/table">
            <a:tbl>
              <a:tblPr firstRow="1" bandRow="1">
                <a:tableStyleId>{5940675A-B579-460E-94D1-54222C63F5DA}</a:tableStyleId>
              </a:tblPr>
              <a:tblGrid>
                <a:gridCol w="647364">
                  <a:extLst>
                    <a:ext uri="{9D8B030D-6E8A-4147-A177-3AD203B41FA5}">
                      <a16:colId xmlns:a16="http://schemas.microsoft.com/office/drawing/2014/main" val="8584145"/>
                    </a:ext>
                  </a:extLst>
                </a:gridCol>
              </a:tblGrid>
              <a:tr h="356925">
                <a:tc>
                  <a:txBody>
                    <a:bodyPr/>
                    <a:lstStyle/>
                    <a:p>
                      <a:r>
                        <a:rPr lang="en-US" sz="2400" dirty="0"/>
                        <a:t>7</a:t>
                      </a:r>
                    </a:p>
                  </a:txBody>
                  <a:tcPr/>
                </a:tc>
                <a:extLst>
                  <a:ext uri="{0D108BD9-81ED-4DB2-BD59-A6C34878D82A}">
                    <a16:rowId xmlns:a16="http://schemas.microsoft.com/office/drawing/2014/main" val="3247403264"/>
                  </a:ext>
                </a:extLst>
              </a:tr>
            </a:tbl>
          </a:graphicData>
        </a:graphic>
      </p:graphicFrame>
      <p:sp>
        <p:nvSpPr>
          <p:cNvPr id="18" name="Equals 17">
            <a:extLst>
              <a:ext uri="{FF2B5EF4-FFF2-40B4-BE49-F238E27FC236}">
                <a16:creationId xmlns:a16="http://schemas.microsoft.com/office/drawing/2014/main" id="{B76DCDB5-3203-FE06-8BB7-71349466DC15}"/>
              </a:ext>
            </a:extLst>
          </p:cNvPr>
          <p:cNvSpPr/>
          <p:nvPr/>
        </p:nvSpPr>
        <p:spPr>
          <a:xfrm>
            <a:off x="4436746" y="2882128"/>
            <a:ext cx="846666" cy="620888"/>
          </a:xfrm>
          <a:prstGeom prst="mathEqual">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28365953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6DFA13A-6A35-30AB-FFED-9D08557EBDAE}"/>
              </a:ext>
            </a:extLst>
          </p:cNvPr>
          <p:cNvSpPr txBox="1"/>
          <p:nvPr/>
        </p:nvSpPr>
        <p:spPr>
          <a:xfrm>
            <a:off x="284022" y="334144"/>
            <a:ext cx="10033685" cy="48320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u="sng" dirty="0">
                <a:ea typeface="Calibri"/>
                <a:cs typeface="Calibri"/>
              </a:rPr>
              <a:t>Dense Layer:</a:t>
            </a:r>
            <a:endParaRPr lang="en-US" sz="2800" dirty="0">
              <a:ea typeface="Calibri"/>
              <a:cs typeface="Calibri"/>
            </a:endParaRPr>
          </a:p>
          <a:p>
            <a:pPr marL="457200" indent="-457200">
              <a:buFont typeface="Arial"/>
              <a:buChar char="•"/>
            </a:pPr>
            <a:r>
              <a:rPr lang="en-US" sz="2800" dirty="0">
                <a:ea typeface="Calibri"/>
                <a:cs typeface="Calibri"/>
              </a:rPr>
              <a:t>Dense Layer is a Fully-Connected layer(with 128 neurons).</a:t>
            </a:r>
          </a:p>
          <a:p>
            <a:pPr marL="457200" indent="-457200">
              <a:buFont typeface="Arial"/>
              <a:buChar char="•"/>
            </a:pPr>
            <a:r>
              <a:rPr lang="en-US" sz="2800" dirty="0">
                <a:ea typeface="Calibri"/>
                <a:cs typeface="Calibri"/>
              </a:rPr>
              <a:t>Extracts high-level Features from the flattened image data.</a:t>
            </a:r>
          </a:p>
          <a:p>
            <a:pPr marL="457200" indent="-457200">
              <a:buFont typeface="Arial"/>
              <a:buChar char="•"/>
            </a:pPr>
            <a:r>
              <a:rPr lang="en-US" sz="2800" dirty="0">
                <a:ea typeface="Calibri"/>
                <a:cs typeface="Calibri"/>
              </a:rPr>
              <a:t>Dense is a output layer.</a:t>
            </a:r>
          </a:p>
          <a:p>
            <a:pPr marL="457200" indent="-457200">
              <a:buFont typeface="Arial"/>
              <a:buChar char="•"/>
            </a:pPr>
            <a:r>
              <a:rPr lang="en-US" sz="2800" dirty="0">
                <a:ea typeface="Calibri"/>
                <a:cs typeface="Calibri"/>
              </a:rPr>
              <a:t>'1' Specifies that there is a single neuron in this output layer.</a:t>
            </a:r>
          </a:p>
          <a:p>
            <a:pPr marL="457200" indent="-457200">
              <a:buFont typeface="Arial"/>
              <a:buChar char="•"/>
            </a:pPr>
            <a:r>
              <a:rPr lang="en-US" sz="2800" dirty="0">
                <a:ea typeface="Calibri"/>
                <a:cs typeface="Calibri"/>
              </a:rPr>
              <a:t>Sigmoid maps the input values to a range between 0 and 1.</a:t>
            </a:r>
          </a:p>
          <a:p>
            <a:pPr marL="457200" indent="-457200">
              <a:buFont typeface="Arial"/>
              <a:buChar char="•"/>
            </a:pPr>
            <a:endParaRPr lang="en-US" sz="2800" dirty="0">
              <a:ea typeface="Calibri"/>
              <a:cs typeface="Calibri"/>
            </a:endParaRPr>
          </a:p>
          <a:p>
            <a:pPr marL="457200" indent="-457200">
              <a:buFont typeface="Arial"/>
              <a:buChar char="•"/>
            </a:pPr>
            <a:endParaRPr lang="en-US" sz="2800" dirty="0">
              <a:ea typeface="Calibri"/>
              <a:cs typeface="Calibri"/>
            </a:endParaRPr>
          </a:p>
          <a:p>
            <a:r>
              <a:rPr lang="en-US" sz="2800" b="1" u="sng" dirty="0">
                <a:ea typeface="Calibri"/>
                <a:cs typeface="Calibri"/>
              </a:rPr>
              <a:t>Dropout layer:</a:t>
            </a:r>
            <a:endParaRPr lang="en-US" sz="2800" dirty="0">
              <a:ea typeface="Calibri"/>
              <a:cs typeface="Calibri"/>
            </a:endParaRPr>
          </a:p>
          <a:p>
            <a:pPr marL="457200" indent="-457200">
              <a:buFont typeface="Arial"/>
              <a:buChar char="•"/>
            </a:pPr>
            <a:r>
              <a:rPr lang="en-US" sz="2800" dirty="0">
                <a:ea typeface="Calibri"/>
                <a:cs typeface="Calibri"/>
              </a:rPr>
              <a:t>Randomly drops 50% of neurons during training.</a:t>
            </a:r>
          </a:p>
          <a:p>
            <a:pPr marL="457200" indent="-457200">
              <a:buFont typeface="Arial"/>
              <a:buChar char="•"/>
            </a:pPr>
            <a:r>
              <a:rPr lang="en-US" sz="2800" dirty="0">
                <a:ea typeface="Calibri"/>
                <a:cs typeface="Calibri"/>
              </a:rPr>
              <a:t>Prevents overfitting and helps generalization.</a:t>
            </a:r>
            <a:endParaRPr lang="en-US" dirty="0">
              <a:ea typeface="Calibri"/>
              <a:cs typeface="Calibri"/>
            </a:endParaRPr>
          </a:p>
        </p:txBody>
      </p:sp>
    </p:spTree>
    <p:extLst>
      <p:ext uri="{BB962C8B-B14F-4D97-AF65-F5344CB8AC3E}">
        <p14:creationId xmlns:p14="http://schemas.microsoft.com/office/powerpoint/2010/main" val="2708492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48640" y="265176"/>
            <a:ext cx="10805160" cy="5911787"/>
          </a:xfrm>
        </p:spPr>
        <p:txBody>
          <a:bodyPr/>
          <a:lstStyle/>
          <a:p>
            <a:pPr marL="0" indent="0">
              <a:buNone/>
            </a:pPr>
            <a:r>
              <a:rPr lang="en-GB">
                <a:solidFill>
                  <a:schemeClr val="accent2">
                    <a:lumMod val="50000"/>
                  </a:schemeClr>
                </a:solidFill>
              </a:rPr>
              <a:t>  </a:t>
            </a:r>
            <a:r>
              <a:rPr lang="en-GB" b="1">
                <a:solidFill>
                  <a:schemeClr val="accent2">
                    <a:lumMod val="50000"/>
                  </a:schemeClr>
                </a:solidFill>
              </a:rPr>
              <a:t>Dataset(</a:t>
            </a:r>
            <a:r>
              <a:rPr lang="en-GB" b="1" err="1">
                <a:solidFill>
                  <a:schemeClr val="accent2">
                    <a:lumMod val="50000"/>
                  </a:schemeClr>
                </a:solidFill>
              </a:rPr>
              <a:t>Hemorrhages</a:t>
            </a:r>
            <a:r>
              <a:rPr lang="en-GB" b="1">
                <a:solidFill>
                  <a:schemeClr val="accent2">
                    <a:lumMod val="50000"/>
                  </a:schemeClr>
                </a:solidFill>
              </a:rPr>
              <a:t>)</a:t>
            </a:r>
          </a:p>
          <a:p>
            <a:pPr marL="0" indent="0">
              <a:buNone/>
            </a:pPr>
            <a:endParaRPr lang="en-GB">
              <a:solidFill>
                <a:schemeClr val="accent2">
                  <a:lumMod val="50000"/>
                </a:schemeClr>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488652142"/>
              </p:ext>
            </p:extLst>
          </p:nvPr>
        </p:nvGraphicFramePr>
        <p:xfrm>
          <a:off x="838198" y="914399"/>
          <a:ext cx="10734370" cy="1170040"/>
        </p:xfrm>
        <a:graphic>
          <a:graphicData uri="http://schemas.openxmlformats.org/drawingml/2006/table">
            <a:tbl>
              <a:tblPr firstRow="1" bandRow="1">
                <a:tableStyleId>{5C22544A-7EE6-4342-B048-85BDC9FD1C3A}</a:tableStyleId>
              </a:tblPr>
              <a:tblGrid>
                <a:gridCol w="2146874">
                  <a:extLst>
                    <a:ext uri="{9D8B030D-6E8A-4147-A177-3AD203B41FA5}">
                      <a16:colId xmlns:a16="http://schemas.microsoft.com/office/drawing/2014/main" val="20000"/>
                    </a:ext>
                  </a:extLst>
                </a:gridCol>
                <a:gridCol w="2054605">
                  <a:extLst>
                    <a:ext uri="{9D8B030D-6E8A-4147-A177-3AD203B41FA5}">
                      <a16:colId xmlns:a16="http://schemas.microsoft.com/office/drawing/2014/main" val="20001"/>
                    </a:ext>
                  </a:extLst>
                </a:gridCol>
                <a:gridCol w="1165706">
                  <a:extLst>
                    <a:ext uri="{9D8B030D-6E8A-4147-A177-3AD203B41FA5}">
                      <a16:colId xmlns:a16="http://schemas.microsoft.com/office/drawing/2014/main" val="20002"/>
                    </a:ext>
                  </a:extLst>
                </a:gridCol>
                <a:gridCol w="1469161">
                  <a:extLst>
                    <a:ext uri="{9D8B030D-6E8A-4147-A177-3AD203B41FA5}">
                      <a16:colId xmlns:a16="http://schemas.microsoft.com/office/drawing/2014/main" val="274648495"/>
                    </a:ext>
                  </a:extLst>
                </a:gridCol>
                <a:gridCol w="1751150">
                  <a:extLst>
                    <a:ext uri="{9D8B030D-6E8A-4147-A177-3AD203B41FA5}">
                      <a16:colId xmlns:a16="http://schemas.microsoft.com/office/drawing/2014/main" val="20003"/>
                    </a:ext>
                  </a:extLst>
                </a:gridCol>
                <a:gridCol w="2146874">
                  <a:extLst>
                    <a:ext uri="{9D8B030D-6E8A-4147-A177-3AD203B41FA5}">
                      <a16:colId xmlns:a16="http://schemas.microsoft.com/office/drawing/2014/main" val="20004"/>
                    </a:ext>
                  </a:extLst>
                </a:gridCol>
              </a:tblGrid>
              <a:tr h="625647">
                <a:tc>
                  <a:txBody>
                    <a:bodyPr/>
                    <a:lstStyle/>
                    <a:p>
                      <a:r>
                        <a:rPr lang="en-GB"/>
                        <a:t>Dataset</a:t>
                      </a:r>
                    </a:p>
                  </a:txBody>
                  <a:tcPr/>
                </a:tc>
                <a:tc>
                  <a:txBody>
                    <a:bodyPr/>
                    <a:lstStyle/>
                    <a:p>
                      <a:r>
                        <a:rPr lang="en-GB"/>
                        <a:t>Dimension in Pixels</a:t>
                      </a:r>
                    </a:p>
                  </a:txBody>
                  <a:tcPr/>
                </a:tc>
                <a:tc gridSpan="2">
                  <a:txBody>
                    <a:bodyPr/>
                    <a:lstStyle/>
                    <a:p>
                      <a:r>
                        <a:rPr lang="en-GB"/>
                        <a:t>Data</a:t>
                      </a:r>
                    </a:p>
                  </a:txBody>
                  <a:tcPr/>
                </a:tc>
                <a:tc hMerge="1">
                  <a:txBody>
                    <a:bodyPr/>
                    <a:lstStyle/>
                    <a:p>
                      <a:endParaRPr lang="en-IN"/>
                    </a:p>
                  </a:txBody>
                  <a:tcPr/>
                </a:tc>
                <a:tc>
                  <a:txBody>
                    <a:bodyPr/>
                    <a:lstStyle/>
                    <a:p>
                      <a:r>
                        <a:rPr lang="en-GB"/>
                        <a:t>Training set</a:t>
                      </a:r>
                    </a:p>
                  </a:txBody>
                  <a:tcPr/>
                </a:tc>
                <a:tc>
                  <a:txBody>
                    <a:bodyPr/>
                    <a:lstStyle/>
                    <a:p>
                      <a:r>
                        <a:rPr lang="en-GB"/>
                        <a:t>Test set</a:t>
                      </a:r>
                    </a:p>
                  </a:txBody>
                  <a:tcPr/>
                </a:tc>
                <a:extLst>
                  <a:ext uri="{0D108BD9-81ED-4DB2-BD59-A6C34878D82A}">
                    <a16:rowId xmlns:a16="http://schemas.microsoft.com/office/drawing/2014/main" val="10000"/>
                  </a:ext>
                </a:extLst>
              </a:tr>
              <a:tr h="544393">
                <a:tc>
                  <a:txBody>
                    <a:bodyPr/>
                    <a:lstStyle/>
                    <a:p>
                      <a:r>
                        <a:rPr lang="en-GB"/>
                        <a:t>HM &amp; NON-HM</a:t>
                      </a:r>
                    </a:p>
                  </a:txBody>
                  <a:tcPr/>
                </a:tc>
                <a:tc>
                  <a:txBody>
                    <a:bodyPr/>
                    <a:lstStyle/>
                    <a:p>
                      <a:r>
                        <a:rPr lang="en-GB"/>
                        <a:t>244</a:t>
                      </a:r>
                      <a:r>
                        <a:rPr lang="en-IN" sz="1800" b="0" i="0" kern="1200">
                          <a:solidFill>
                            <a:schemeClr val="dk1"/>
                          </a:solidFill>
                          <a:effectLst/>
                          <a:latin typeface="+mn-lt"/>
                          <a:ea typeface="+mn-ea"/>
                          <a:cs typeface="+mn-cs"/>
                        </a:rPr>
                        <a:t>×244</a:t>
                      </a:r>
                      <a:endParaRPr lang="en-GB"/>
                    </a:p>
                  </a:txBody>
                  <a:tcPr/>
                </a:tc>
                <a:tc>
                  <a:txBody>
                    <a:bodyPr/>
                    <a:lstStyle/>
                    <a:p>
                      <a:r>
                        <a:rPr lang="en-GB" sz="1600"/>
                        <a:t>HM(1487)</a:t>
                      </a:r>
                    </a:p>
                  </a:txBody>
                  <a:tcPr/>
                </a:tc>
                <a:tc>
                  <a:txBody>
                    <a:bodyPr/>
                    <a:lstStyle/>
                    <a:p>
                      <a:r>
                        <a:rPr lang="en-GB" sz="1600"/>
                        <a:t>NO_HM(1805)</a:t>
                      </a:r>
                    </a:p>
                  </a:txBody>
                  <a:tcPr/>
                </a:tc>
                <a:tc>
                  <a:txBody>
                    <a:bodyPr/>
                    <a:lstStyle/>
                    <a:p>
                      <a:r>
                        <a:rPr lang="en-GB"/>
                        <a:t>2633(80%)</a:t>
                      </a:r>
                    </a:p>
                  </a:txBody>
                  <a:tcPr/>
                </a:tc>
                <a:tc>
                  <a:txBody>
                    <a:bodyPr/>
                    <a:lstStyle/>
                    <a:p>
                      <a:r>
                        <a:rPr lang="en-GB"/>
                        <a:t>659(20%)</a:t>
                      </a:r>
                    </a:p>
                  </a:txBody>
                  <a:tcPr/>
                </a:tc>
                <a:extLst>
                  <a:ext uri="{0D108BD9-81ED-4DB2-BD59-A6C34878D82A}">
                    <a16:rowId xmlns:a16="http://schemas.microsoft.com/office/drawing/2014/main" val="10001"/>
                  </a:ext>
                </a:extLst>
              </a:tr>
            </a:tbl>
          </a:graphicData>
        </a:graphic>
      </p:graphicFrame>
      <p:sp>
        <p:nvSpPr>
          <p:cNvPr id="5" name="Rectangle 4"/>
          <p:cNvSpPr/>
          <p:nvPr/>
        </p:nvSpPr>
        <p:spPr>
          <a:xfrm>
            <a:off x="838200" y="2379440"/>
            <a:ext cx="10381488" cy="2707005"/>
          </a:xfrm>
          <a:prstGeom prst="rect">
            <a:avLst/>
          </a:prstGeom>
        </p:spPr>
        <p:txBody>
          <a:bodyPr wrap="square">
            <a:spAutoFit/>
          </a:bodyPr>
          <a:lstStyle/>
          <a:p>
            <a:pPr algn="ctr"/>
            <a:r>
              <a:rPr lang="en-GB" sz="3600" b="1">
                <a:solidFill>
                  <a:schemeClr val="accent2">
                    <a:lumMod val="50000"/>
                  </a:schemeClr>
                </a:solidFill>
              </a:rPr>
              <a:t>Confusion Matrix Details</a:t>
            </a:r>
          </a:p>
          <a:p>
            <a:pPr marL="342900" indent="-342900">
              <a:buFont typeface="Arial" panose="020B0604020202020204" pitchFamily="34" charset="0"/>
              <a:buChar char="•"/>
            </a:pPr>
            <a:r>
              <a:rPr lang="en-GB" sz="2000" b="1"/>
              <a:t>True Positive (TP): </a:t>
            </a:r>
            <a:r>
              <a:rPr lang="en-IN" altLang="en-GB" sz="2000"/>
              <a:t>I</a:t>
            </a:r>
            <a:r>
              <a:rPr lang="en-GB"/>
              <a:t>ndicates that HEMORRHAGES is correctly predicted.</a:t>
            </a:r>
          </a:p>
          <a:p>
            <a:endParaRPr lang="en-GB"/>
          </a:p>
          <a:p>
            <a:pPr marL="342900" indent="-342900">
              <a:buFont typeface="Arial" panose="020B0604020202020204" pitchFamily="34" charset="0"/>
              <a:buChar char="•"/>
            </a:pPr>
            <a:r>
              <a:rPr lang="en-GB" sz="2000" b="1"/>
              <a:t>True Negative (TN):</a:t>
            </a:r>
            <a:r>
              <a:rPr lang="en-IN" altLang="en-GB" sz="2000"/>
              <a:t>I</a:t>
            </a:r>
            <a:r>
              <a:rPr lang="en-GB"/>
              <a:t>ndicates</a:t>
            </a:r>
            <a:r>
              <a:rPr lang="en-GB" b="1"/>
              <a:t> </a:t>
            </a:r>
            <a:r>
              <a:rPr lang="en-GB"/>
              <a:t>that NO- HEMORRHAGES is correctly predicted.</a:t>
            </a:r>
          </a:p>
          <a:p>
            <a:endParaRPr lang="en-GB"/>
          </a:p>
          <a:p>
            <a:pPr marL="342900" indent="-342900">
              <a:buFont typeface="Arial" panose="020B0604020202020204" pitchFamily="34" charset="0"/>
              <a:buChar char="•"/>
            </a:pPr>
            <a:r>
              <a:rPr lang="en-GB" sz="2000" b="1"/>
              <a:t>False Positive (FP) :</a:t>
            </a:r>
            <a:r>
              <a:rPr lang="en-IN" altLang="en-GB" sz="2000"/>
              <a:t>I</a:t>
            </a:r>
            <a:r>
              <a:rPr lang="en-GB"/>
              <a:t>ndicates that NO- HEMORRHAGES is erroneously predicted as HEMORRHAGES.</a:t>
            </a:r>
          </a:p>
          <a:p>
            <a:endParaRPr lang="en-GB"/>
          </a:p>
          <a:p>
            <a:pPr marL="342900" indent="-342900">
              <a:buFont typeface="Arial" panose="020B0604020202020204" pitchFamily="34" charset="0"/>
              <a:buChar char="•"/>
            </a:pPr>
            <a:r>
              <a:rPr lang="en-GB" sz="2000" b="1"/>
              <a:t>False Negative(FN):</a:t>
            </a:r>
            <a:r>
              <a:rPr lang="en-IN" altLang="en-GB" sz="2000"/>
              <a:t>I</a:t>
            </a:r>
            <a:r>
              <a:rPr lang="en-GB"/>
              <a:t>ndicates that HEMORRHAGES is erroneously predicted as NO- HEMORRHAGES.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7512" y="196090"/>
            <a:ext cx="10844784" cy="887158"/>
          </a:xfrm>
        </p:spPr>
        <p:txBody>
          <a:bodyPr>
            <a:noAutofit/>
          </a:bodyPr>
          <a:lstStyle/>
          <a:p>
            <a:pPr algn="ctr"/>
            <a:r>
              <a:rPr lang="en-GB" sz="4400" b="1" u="sng">
                <a:solidFill>
                  <a:schemeClr val="accent2">
                    <a:lumMod val="50000"/>
                  </a:schemeClr>
                </a:solidFill>
              </a:rPr>
              <a:t>Confusion matrix(Testing Images)</a:t>
            </a:r>
            <a:endParaRPr lang="en-GB" sz="4400" u="sng">
              <a:solidFill>
                <a:schemeClr val="accent2">
                  <a:lumMod val="50000"/>
                </a:schemeClr>
              </a:solidFill>
              <a:ea typeface="Calibri Light"/>
              <a:cs typeface="Calibri Light"/>
            </a:endParaRPr>
          </a:p>
        </p:txBody>
      </p:sp>
      <p:sp>
        <p:nvSpPr>
          <p:cNvPr id="7" name="Text Placeholder 6"/>
          <p:cNvSpPr>
            <a:spLocks noGrp="1"/>
          </p:cNvSpPr>
          <p:nvPr>
            <p:ph type="body" idx="1"/>
          </p:nvPr>
        </p:nvSpPr>
        <p:spPr>
          <a:xfrm>
            <a:off x="2807208" y="5453635"/>
            <a:ext cx="8604250" cy="1276095"/>
          </a:xfrm>
        </p:spPr>
        <p:txBody>
          <a:bodyPr/>
          <a:lstStyle/>
          <a:p>
            <a:r>
              <a:rPr lang="en-GB">
                <a:solidFill>
                  <a:schemeClr val="tx1"/>
                </a:solidFill>
              </a:rPr>
              <a:t>The total count from the confusion matrix values is: </a:t>
            </a:r>
          </a:p>
          <a:p>
            <a:r>
              <a:rPr lang="en-GB">
                <a:solidFill>
                  <a:schemeClr val="tx1"/>
                </a:solidFill>
              </a:rPr>
              <a:t>                                                TP+TN+FP+FN=659 (20% testing set)</a:t>
            </a:r>
          </a:p>
        </p:txBody>
      </p:sp>
      <p:graphicFrame>
        <p:nvGraphicFramePr>
          <p:cNvPr id="3" name="Table 2">
            <a:extLst>
              <a:ext uri="{FF2B5EF4-FFF2-40B4-BE49-F238E27FC236}">
                <a16:creationId xmlns:a16="http://schemas.microsoft.com/office/drawing/2014/main" id="{AD0C420C-4B98-D576-F606-96E92BF44CB1}"/>
              </a:ext>
            </a:extLst>
          </p:cNvPr>
          <p:cNvGraphicFramePr>
            <a:graphicFrameLocks noGrp="1"/>
          </p:cNvGraphicFramePr>
          <p:nvPr>
            <p:extLst>
              <p:ext uri="{D42A27DB-BD31-4B8C-83A1-F6EECF244321}">
                <p14:modId xmlns:p14="http://schemas.microsoft.com/office/powerpoint/2010/main" val="3735964040"/>
              </p:ext>
            </p:extLst>
          </p:nvPr>
        </p:nvGraphicFramePr>
        <p:xfrm>
          <a:off x="8847752" y="2435760"/>
          <a:ext cx="2664544" cy="1665363"/>
        </p:xfrm>
        <a:graphic>
          <a:graphicData uri="http://schemas.openxmlformats.org/drawingml/2006/table">
            <a:tbl>
              <a:tblPr firstRow="1" bandRow="1">
                <a:tableStyleId>{0505E3EF-67EA-436B-97B2-0124C06EBD24}</a:tableStyleId>
              </a:tblPr>
              <a:tblGrid>
                <a:gridCol w="1332272">
                  <a:extLst>
                    <a:ext uri="{9D8B030D-6E8A-4147-A177-3AD203B41FA5}">
                      <a16:colId xmlns:a16="http://schemas.microsoft.com/office/drawing/2014/main" val="3289470150"/>
                    </a:ext>
                  </a:extLst>
                </a:gridCol>
                <a:gridCol w="1332272">
                  <a:extLst>
                    <a:ext uri="{9D8B030D-6E8A-4147-A177-3AD203B41FA5}">
                      <a16:colId xmlns:a16="http://schemas.microsoft.com/office/drawing/2014/main" val="3655959030"/>
                    </a:ext>
                  </a:extLst>
                </a:gridCol>
              </a:tblGrid>
              <a:tr h="422787">
                <a:tc>
                  <a:txBody>
                    <a:bodyPr/>
                    <a:lstStyle/>
                    <a:p>
                      <a:r>
                        <a:rPr lang="en-IN"/>
                        <a:t>TP</a:t>
                      </a:r>
                    </a:p>
                  </a:txBody>
                  <a:tcPr/>
                </a:tc>
                <a:tc>
                  <a:txBody>
                    <a:bodyPr/>
                    <a:lstStyle/>
                    <a:p>
                      <a:r>
                        <a:rPr lang="en-IN"/>
                        <a:t>293</a:t>
                      </a:r>
                    </a:p>
                  </a:txBody>
                  <a:tcPr/>
                </a:tc>
                <a:extLst>
                  <a:ext uri="{0D108BD9-81ED-4DB2-BD59-A6C34878D82A}">
                    <a16:rowId xmlns:a16="http://schemas.microsoft.com/office/drawing/2014/main" val="2718367007"/>
                  </a:ext>
                </a:extLst>
              </a:tr>
              <a:tr h="414192">
                <a:tc>
                  <a:txBody>
                    <a:bodyPr/>
                    <a:lstStyle/>
                    <a:p>
                      <a:r>
                        <a:rPr lang="en-IN" b="1" dirty="0"/>
                        <a:t>TN</a:t>
                      </a:r>
                    </a:p>
                  </a:txBody>
                  <a:tcPr/>
                </a:tc>
                <a:tc>
                  <a:txBody>
                    <a:bodyPr/>
                    <a:lstStyle/>
                    <a:p>
                      <a:r>
                        <a:rPr lang="en-IN" b="1"/>
                        <a:t>343</a:t>
                      </a:r>
                    </a:p>
                  </a:txBody>
                  <a:tcPr/>
                </a:tc>
                <a:extLst>
                  <a:ext uri="{0D108BD9-81ED-4DB2-BD59-A6C34878D82A}">
                    <a16:rowId xmlns:a16="http://schemas.microsoft.com/office/drawing/2014/main" val="3760350893"/>
                  </a:ext>
                </a:extLst>
              </a:tr>
              <a:tr h="414192">
                <a:tc>
                  <a:txBody>
                    <a:bodyPr/>
                    <a:lstStyle/>
                    <a:p>
                      <a:r>
                        <a:rPr lang="en-IN" b="1" dirty="0"/>
                        <a:t>FP</a:t>
                      </a:r>
                    </a:p>
                  </a:txBody>
                  <a:tcPr/>
                </a:tc>
                <a:tc>
                  <a:txBody>
                    <a:bodyPr/>
                    <a:lstStyle/>
                    <a:p>
                      <a:r>
                        <a:rPr lang="en-IN" b="1"/>
                        <a:t>15</a:t>
                      </a:r>
                    </a:p>
                  </a:txBody>
                  <a:tcPr/>
                </a:tc>
                <a:extLst>
                  <a:ext uri="{0D108BD9-81ED-4DB2-BD59-A6C34878D82A}">
                    <a16:rowId xmlns:a16="http://schemas.microsoft.com/office/drawing/2014/main" val="4197268209"/>
                  </a:ext>
                </a:extLst>
              </a:tr>
              <a:tr h="414192">
                <a:tc>
                  <a:txBody>
                    <a:bodyPr/>
                    <a:lstStyle/>
                    <a:p>
                      <a:r>
                        <a:rPr lang="en-IN" b="1"/>
                        <a:t>FN</a:t>
                      </a:r>
                    </a:p>
                  </a:txBody>
                  <a:tcPr/>
                </a:tc>
                <a:tc>
                  <a:txBody>
                    <a:bodyPr/>
                    <a:lstStyle/>
                    <a:p>
                      <a:r>
                        <a:rPr lang="en-GB" b="1" dirty="0"/>
                        <a:t>8</a:t>
                      </a:r>
                      <a:endParaRPr lang="en-IN" b="1" dirty="0"/>
                    </a:p>
                  </a:txBody>
                  <a:tcPr/>
                </a:tc>
                <a:extLst>
                  <a:ext uri="{0D108BD9-81ED-4DB2-BD59-A6C34878D82A}">
                    <a16:rowId xmlns:a16="http://schemas.microsoft.com/office/drawing/2014/main" val="3023619307"/>
                  </a:ext>
                </a:extLst>
              </a:tr>
            </a:tbl>
          </a:graphicData>
        </a:graphic>
      </p:graphicFrame>
      <p:pic>
        <p:nvPicPr>
          <p:cNvPr id="5" name="image10.png">
            <a:extLst>
              <a:ext uri="{FF2B5EF4-FFF2-40B4-BE49-F238E27FC236}">
                <a16:creationId xmlns:a16="http://schemas.microsoft.com/office/drawing/2014/main" id="{8226A2FF-DAC8-E70F-B809-D44D52228404}"/>
              </a:ext>
            </a:extLst>
          </p:cNvPr>
          <p:cNvPicPr/>
          <p:nvPr/>
        </p:nvPicPr>
        <p:blipFill>
          <a:blip r:embed="rId2"/>
          <a:srcRect/>
          <a:stretch>
            <a:fillRect/>
          </a:stretch>
        </p:blipFill>
        <p:spPr>
          <a:xfrm>
            <a:off x="2939843" y="1327355"/>
            <a:ext cx="5329084" cy="3706762"/>
          </a:xfrm>
          <a:prstGeom prst="rect">
            <a:avLst/>
          </a:prstGeom>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22745" y="293070"/>
                <a:ext cx="10515600" cy="5930075"/>
              </a:xfrm>
            </p:spPr>
            <p:txBody>
              <a:bodyPr>
                <a:normAutofit/>
              </a:bodyPr>
              <a:lstStyle/>
              <a:p>
                <a:r>
                  <a:rPr lang="en-GB" sz="3600">
                    <a:solidFill>
                      <a:schemeClr val="accent2">
                        <a:lumMod val="50000"/>
                      </a:schemeClr>
                    </a:solidFill>
                  </a:rPr>
                  <a:t>Performance evaluation metric for DR Identification </a:t>
                </a:r>
              </a:p>
              <a:p>
                <a:r>
                  <a:rPr lang="en-GB" b="1"/>
                  <a:t> Sensitivity (or Recall): </a:t>
                </a:r>
                <a:r>
                  <a:rPr lang="en-GB" sz="2400"/>
                  <a:t>It is the percentage of true positives. it is proportion of HEMORRHAGES candidates who are correctly identified as HEMORRHAGES among those who actually are the HEMORRHAGES.</a:t>
                </a:r>
              </a:p>
              <a:p>
                <a:pPr marL="0" indent="0">
                  <a:buNone/>
                </a:pPr>
                <a:r>
                  <a:rPr lang="en-GB" sz="2400"/>
                  <a:t>                                                      sensitivity</a:t>
                </a:r>
                <a:r>
                  <a:rPr lang="en-GB"/>
                  <a:t>= </a:t>
                </a:r>
                <a14:m>
                  <m:oMath xmlns:m="http://schemas.openxmlformats.org/officeDocument/2006/math">
                    <m:f>
                      <m:fPr>
                        <m:ctrlPr>
                          <a:rPr lang="en-GB" i="1">
                            <a:latin typeface="Cambria Math" panose="02040503050406030204" pitchFamily="18" charset="0"/>
                          </a:rPr>
                        </m:ctrlPr>
                      </m:fPr>
                      <m:num>
                        <m:r>
                          <a:rPr lang="en-GB" i="1">
                            <a:latin typeface="Cambria Math" panose="02040503050406030204" pitchFamily="18" charset="0"/>
                          </a:rPr>
                          <m:t>𝑇𝑃</m:t>
                        </m:r>
                      </m:num>
                      <m:den>
                        <m:r>
                          <a:rPr lang="en-GB" i="1">
                            <a:latin typeface="Cambria Math" panose="02040503050406030204" pitchFamily="18" charset="0"/>
                          </a:rPr>
                          <m:t>𝑇𝑃</m:t>
                        </m:r>
                        <m:r>
                          <a:rPr lang="en-GB" i="1">
                            <a:latin typeface="Cambria Math" panose="02040503050406030204" pitchFamily="18" charset="0"/>
                          </a:rPr>
                          <m:t>+</m:t>
                        </m:r>
                        <m:r>
                          <a:rPr lang="en-GB" i="1">
                            <a:latin typeface="Cambria Math" panose="02040503050406030204" pitchFamily="18" charset="0"/>
                          </a:rPr>
                          <m:t>𝐹𝑁</m:t>
                        </m:r>
                      </m:den>
                    </m:f>
                  </m:oMath>
                </a14:m>
                <a:r>
                  <a:rPr lang="en-GB"/>
                  <a:t>=0.9734</a:t>
                </a:r>
              </a:p>
              <a:p>
                <a:r>
                  <a:rPr lang="en-GB" b="1"/>
                  <a:t>Specificity: </a:t>
                </a:r>
                <a:r>
                  <a:rPr lang="en-GB" sz="2400"/>
                  <a:t>It is the percentage of true negatives. it is proportion of HEMORRHAGES candidates who are correctly identified as NO-HEMORRHAGES among those who actually are the NO-HEMORRHAGES.</a:t>
                </a:r>
              </a:p>
              <a:p>
                <a:pPr marL="0" indent="0">
                  <a:buNone/>
                </a:pPr>
                <a:r>
                  <a:rPr lang="en-GB" sz="2400"/>
                  <a:t>                                                       specificity</a:t>
                </a:r>
                <a:r>
                  <a:rPr lang="en-GB"/>
                  <a:t>= </a:t>
                </a:r>
                <a14:m>
                  <m:oMath xmlns:m="http://schemas.openxmlformats.org/officeDocument/2006/math">
                    <m:f>
                      <m:fPr>
                        <m:ctrlPr>
                          <a:rPr lang="en-GB" i="1">
                            <a:latin typeface="Cambria Math" panose="02040503050406030204" pitchFamily="18" charset="0"/>
                          </a:rPr>
                        </m:ctrlPr>
                      </m:fPr>
                      <m:num>
                        <m:r>
                          <a:rPr lang="en-GB" i="1">
                            <a:latin typeface="Cambria Math" panose="02040503050406030204" pitchFamily="18" charset="0"/>
                          </a:rPr>
                          <m:t>𝑇</m:t>
                        </m:r>
                        <m:r>
                          <a:rPr lang="en-GB" b="0" i="1" smtClean="0">
                            <a:latin typeface="Cambria Math" panose="02040503050406030204" pitchFamily="18" charset="0"/>
                          </a:rPr>
                          <m:t>𝑁</m:t>
                        </m:r>
                      </m:num>
                      <m:den>
                        <m:r>
                          <a:rPr lang="en-GB" b="0" i="1" smtClean="0">
                            <a:latin typeface="Cambria Math" panose="02040503050406030204" pitchFamily="18" charset="0"/>
                          </a:rPr>
                          <m:t>𝑇𝑁</m:t>
                        </m:r>
                        <m:r>
                          <a:rPr lang="en-GB" b="0" i="1" smtClean="0">
                            <a:latin typeface="Cambria Math" panose="02040503050406030204" pitchFamily="18" charset="0"/>
                          </a:rPr>
                          <m:t>+</m:t>
                        </m:r>
                        <m:r>
                          <a:rPr lang="en-GB" b="0" i="1" smtClean="0">
                            <a:latin typeface="Cambria Math" panose="02040503050406030204" pitchFamily="18" charset="0"/>
                          </a:rPr>
                          <m:t>𝐹𝑃</m:t>
                        </m:r>
                      </m:den>
                    </m:f>
                    <m:r>
                      <a:rPr lang="en-IN" b="0" i="1" smtClean="0">
                        <a:latin typeface="Cambria Math" panose="02040503050406030204" pitchFamily="18" charset="0"/>
                      </a:rPr>
                      <m:t>=0.9581</m:t>
                    </m:r>
                  </m:oMath>
                </a14:m>
                <a:endParaRPr lang="en-GB"/>
              </a:p>
              <a:p>
                <a:r>
                  <a:rPr lang="en-GB" b="1"/>
                  <a:t>Accuracy:</a:t>
                </a:r>
                <a:r>
                  <a:rPr lang="en-GB" sz="2400"/>
                  <a:t>is the proportion of the total number of predictions (HEMORRHAGES or NON HEMORRHAGES) that were correct</a:t>
                </a:r>
                <a:r>
                  <a:rPr lang="en-GB"/>
                  <a:t>.</a:t>
                </a:r>
              </a:p>
              <a:p>
                <a:pPr marL="0" indent="0">
                  <a:buNone/>
                </a:pPr>
                <a:r>
                  <a:rPr lang="en-GB" sz="2400"/>
                  <a:t>                                                     Accuracy</a:t>
                </a:r>
                <a:r>
                  <a:rPr lang="en-GB"/>
                  <a:t>= </a:t>
                </a:r>
                <a14:m>
                  <m:oMath xmlns:m="http://schemas.openxmlformats.org/officeDocument/2006/math">
                    <m:f>
                      <m:fPr>
                        <m:ctrlPr>
                          <a:rPr lang="en-GB" i="1">
                            <a:latin typeface="Cambria Math" panose="02040503050406030204" pitchFamily="18" charset="0"/>
                          </a:rPr>
                        </m:ctrlPr>
                      </m:fPr>
                      <m:num>
                        <m:r>
                          <a:rPr lang="en-GB" i="1">
                            <a:latin typeface="Cambria Math" panose="02040503050406030204" pitchFamily="18" charset="0"/>
                          </a:rPr>
                          <m:t>𝑇𝑃</m:t>
                        </m:r>
                        <m:r>
                          <a:rPr lang="en-GB" b="0" i="1" smtClean="0">
                            <a:latin typeface="Cambria Math" panose="02040503050406030204" pitchFamily="18" charset="0"/>
                          </a:rPr>
                          <m:t>+</m:t>
                        </m:r>
                        <m:r>
                          <a:rPr lang="en-GB" i="1">
                            <a:latin typeface="Cambria Math" panose="02040503050406030204" pitchFamily="18" charset="0"/>
                          </a:rPr>
                          <m:t>𝑇𝑁</m:t>
                        </m:r>
                      </m:num>
                      <m:den>
                        <m:r>
                          <a:rPr lang="en-GB" b="0" i="1" smtClean="0">
                            <a:latin typeface="Cambria Math" panose="02040503050406030204" pitchFamily="18" charset="0"/>
                          </a:rPr>
                          <m:t>𝑇𝑃</m:t>
                        </m:r>
                        <m:r>
                          <a:rPr lang="en-GB" b="0" i="1" smtClean="0">
                            <a:latin typeface="Cambria Math" panose="02040503050406030204" pitchFamily="18" charset="0"/>
                          </a:rPr>
                          <m:t>+</m:t>
                        </m:r>
                        <m:r>
                          <a:rPr lang="en-GB" b="0" i="1" smtClean="0">
                            <a:latin typeface="Cambria Math" panose="02040503050406030204" pitchFamily="18" charset="0"/>
                          </a:rPr>
                          <m:t>𝑇𝑁</m:t>
                        </m:r>
                        <m:r>
                          <a:rPr lang="en-GB" b="0" i="1" smtClean="0">
                            <a:latin typeface="Cambria Math" panose="02040503050406030204" pitchFamily="18" charset="0"/>
                          </a:rPr>
                          <m:t>+</m:t>
                        </m:r>
                        <m:r>
                          <a:rPr lang="en-GB" b="0" i="1" smtClean="0">
                            <a:latin typeface="Cambria Math" panose="02040503050406030204" pitchFamily="18" charset="0"/>
                          </a:rPr>
                          <m:t>𝐹𝑃</m:t>
                        </m:r>
                        <m:r>
                          <a:rPr lang="en-GB" b="0" i="1" smtClean="0">
                            <a:latin typeface="Cambria Math" panose="02040503050406030204" pitchFamily="18" charset="0"/>
                          </a:rPr>
                          <m:t>+</m:t>
                        </m:r>
                        <m:r>
                          <a:rPr lang="en-GB" b="0" i="1" smtClean="0">
                            <a:latin typeface="Cambria Math" panose="02040503050406030204" pitchFamily="18" charset="0"/>
                          </a:rPr>
                          <m:t>𝐹𝑁</m:t>
                        </m:r>
                      </m:den>
                    </m:f>
                    <m:r>
                      <a:rPr lang="en-IN" b="0" i="1" smtClean="0">
                        <a:latin typeface="Cambria Math" panose="02040503050406030204" pitchFamily="18" charset="0"/>
                      </a:rPr>
                      <m:t>=0.9651</m:t>
                    </m:r>
                  </m:oMath>
                </a14:m>
                <a:endParaRPr lang="en-GB"/>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22745" y="293070"/>
                <a:ext cx="10515600" cy="5930075"/>
              </a:xfrm>
              <a:blipFill>
                <a:blip r:embed="rId2"/>
                <a:stretch>
                  <a:fillRect l="-1623" t="-2467" b="-103"/>
                </a:stretch>
              </a:blipFill>
            </p:spPr>
            <p:txBody>
              <a:bodyPr/>
              <a:lstStyle/>
              <a:p>
                <a:r>
                  <a:rPr lang="en-US">
                    <a:noFill/>
                  </a:rPr>
                  <a:t> </a:t>
                </a:r>
              </a:p>
            </p:txBody>
          </p:sp>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1899" y="713232"/>
            <a:ext cx="5339751" cy="5463731"/>
          </a:xfrm>
        </p:spPr>
        <p:txBody>
          <a:bodyPr vert="horz" lIns="91440" tIns="45720" rIns="91440" bIns="45720" rtlCol="0" anchor="t">
            <a:normAutofit/>
          </a:bodyPr>
          <a:lstStyle/>
          <a:p>
            <a:r>
              <a:rPr lang="en-GB" b="1"/>
              <a:t>ROC ANALYSIS</a:t>
            </a:r>
          </a:p>
          <a:p>
            <a:pPr marL="0" indent="0">
              <a:buNone/>
            </a:pPr>
            <a:r>
              <a:rPr lang="en-GB"/>
              <a:t>        </a:t>
            </a:r>
            <a:r>
              <a:rPr lang="en-GB">
                <a:latin typeface="Times New Roman"/>
                <a:ea typeface="Calibri"/>
                <a:cs typeface="Calibri"/>
              </a:rPr>
              <a:t>True positive rate (TPR) against false positive rate (FPR) can be measured,</a:t>
            </a:r>
          </a:p>
          <a:p>
            <a:pPr marL="0" indent="0">
              <a:buNone/>
            </a:pPr>
            <a:r>
              <a:rPr lang="en-GB">
                <a:latin typeface="Times New Roman"/>
                <a:ea typeface="Calibri"/>
                <a:cs typeface="Calibri"/>
              </a:rPr>
              <a:t>  </a:t>
            </a:r>
            <a:r>
              <a:rPr lang="en-GB" sz="2500">
                <a:latin typeface="Times New Roman"/>
                <a:ea typeface="Calibri"/>
                <a:cs typeface="Calibri"/>
              </a:rPr>
              <a:t>Where,</a:t>
            </a:r>
            <a:endParaRPr lang="en-GB">
              <a:latin typeface="Calibri"/>
              <a:ea typeface="Calibri"/>
              <a:cs typeface="Calibri"/>
            </a:endParaRPr>
          </a:p>
          <a:p>
            <a:pPr marL="0" indent="0">
              <a:buNone/>
            </a:pPr>
            <a:r>
              <a:rPr lang="en-GB">
                <a:latin typeface="Times New Roman"/>
                <a:ea typeface="Calibri"/>
                <a:cs typeface="Calibri"/>
              </a:rPr>
              <a:t>TPR =TP/(TP+FN)=0.9855</a:t>
            </a:r>
            <a:endParaRPr lang="en-GB">
              <a:ea typeface="Calibri"/>
              <a:cs typeface="Calibri"/>
            </a:endParaRPr>
          </a:p>
          <a:p>
            <a:pPr marL="0" indent="0">
              <a:buNone/>
            </a:pPr>
            <a:r>
              <a:rPr lang="en-GB">
                <a:latin typeface="Times New Roman"/>
                <a:ea typeface="Calibri"/>
                <a:cs typeface="Calibri"/>
              </a:rPr>
              <a:t>FPR = FP/(FP+TN)=0.0145</a:t>
            </a:r>
          </a:p>
          <a:p>
            <a:pPr marL="0" indent="0">
              <a:buNone/>
            </a:pPr>
            <a:r>
              <a:rPr lang="en-GB">
                <a:latin typeface="Times New Roman"/>
                <a:ea typeface="Calibri"/>
                <a:cs typeface="Calibri"/>
              </a:rPr>
              <a:t>        All possible combinations of TPR and FPR compose a ROC space.</a:t>
            </a:r>
          </a:p>
        </p:txBody>
      </p:sp>
      <p:pic>
        <p:nvPicPr>
          <p:cNvPr id="2" name="Picture 1">
            <a:extLst>
              <a:ext uri="{FF2B5EF4-FFF2-40B4-BE49-F238E27FC236}">
                <a16:creationId xmlns:a16="http://schemas.microsoft.com/office/drawing/2014/main" id="{9B829392-845D-4D7B-14B1-49993CCDECD7}"/>
              </a:ext>
            </a:extLst>
          </p:cNvPr>
          <p:cNvPicPr>
            <a:picLocks noChangeAspect="1"/>
          </p:cNvPicPr>
          <p:nvPr/>
        </p:nvPicPr>
        <p:blipFill>
          <a:blip r:embed="rId2"/>
          <a:stretch>
            <a:fillRect/>
          </a:stretch>
        </p:blipFill>
        <p:spPr>
          <a:xfrm>
            <a:off x="5865804" y="576758"/>
            <a:ext cx="5943804" cy="4963062"/>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5F3E06-8F1D-04F3-11DA-FCCEEE70D832}"/>
              </a:ext>
            </a:extLst>
          </p:cNvPr>
          <p:cNvSpPr>
            <a:spLocks noGrp="1"/>
          </p:cNvSpPr>
          <p:nvPr>
            <p:ph idx="4294967295"/>
          </p:nvPr>
        </p:nvSpPr>
        <p:spPr>
          <a:xfrm>
            <a:off x="503208" y="388308"/>
            <a:ext cx="5110163" cy="5730875"/>
          </a:xfrm>
        </p:spPr>
        <p:txBody>
          <a:bodyPr vert="horz" lIns="91440" tIns="45720" rIns="91440" bIns="45720" rtlCol="0" anchor="t">
            <a:normAutofit lnSpcReduction="10000"/>
          </a:bodyPr>
          <a:lstStyle/>
          <a:p>
            <a:r>
              <a:rPr lang="en-US" b="1">
                <a:ea typeface="Calibri"/>
                <a:cs typeface="Calibri"/>
              </a:rPr>
              <a:t>EPOCHS ANALYSIS</a:t>
            </a:r>
            <a:endParaRPr lang="en-US">
              <a:latin typeface="Times New Roman"/>
              <a:ea typeface="Calibri"/>
              <a:cs typeface="Times New Roman"/>
            </a:endParaRPr>
          </a:p>
          <a:p>
            <a:pPr marL="0" indent="0">
              <a:buNone/>
            </a:pPr>
            <a:r>
              <a:rPr lang="en-US" sz="2400">
                <a:latin typeface="Times New Roman"/>
                <a:ea typeface="Calibri"/>
                <a:cs typeface="Calibri"/>
              </a:rPr>
              <a:t> </a:t>
            </a:r>
            <a:r>
              <a:rPr lang="en-US">
                <a:latin typeface="Times New Roman"/>
                <a:ea typeface="Calibri"/>
                <a:cs typeface="Calibri"/>
              </a:rPr>
              <a:t>An</a:t>
            </a:r>
            <a:r>
              <a:rPr lang="en-US">
                <a:latin typeface="Times New Roman"/>
                <a:ea typeface="+mn-lt"/>
                <a:cs typeface="+mn-lt"/>
              </a:rPr>
              <a:t> epoch curve refers to a graph that shows the performance of a model (e.g., accuracy or loss) over multiple epochs during training.</a:t>
            </a:r>
            <a:endParaRPr lang="en-US">
              <a:latin typeface="Times New Roman"/>
              <a:cs typeface="Times New Roman"/>
            </a:endParaRPr>
          </a:p>
          <a:p>
            <a:pPr marL="0" indent="0">
              <a:buNone/>
            </a:pPr>
            <a:r>
              <a:rPr lang="en-US" b="1">
                <a:latin typeface="Times New Roman"/>
                <a:ea typeface="+mn-lt"/>
                <a:cs typeface="+mn-lt"/>
              </a:rPr>
              <a:t>Epoch:</a:t>
            </a:r>
            <a:r>
              <a:rPr lang="en-US">
                <a:ea typeface="+mn-lt"/>
                <a:cs typeface="+mn-lt"/>
              </a:rPr>
              <a:t> </a:t>
            </a:r>
            <a:r>
              <a:rPr lang="en-US">
                <a:latin typeface="Times New Roman"/>
                <a:ea typeface="+mn-lt"/>
                <a:cs typeface="+mn-lt"/>
              </a:rPr>
              <a:t>A single pass of the entire dataset during model training</a:t>
            </a:r>
            <a:r>
              <a:rPr lang="en-US">
                <a:ea typeface="+mn-lt"/>
                <a:cs typeface="+mn-lt"/>
              </a:rPr>
              <a:t>.</a:t>
            </a:r>
          </a:p>
          <a:p>
            <a:pPr>
              <a:buNone/>
            </a:pPr>
            <a:r>
              <a:rPr lang="en-US">
                <a:latin typeface="Times New Roman"/>
                <a:ea typeface="+mn-lt"/>
                <a:cs typeface="+mn-lt"/>
              </a:rPr>
              <a:t>The curve helps monitor progress, such as:</a:t>
            </a:r>
            <a:endParaRPr lang="en-US">
              <a:latin typeface="Times New Roman"/>
              <a:cs typeface="Times New Roman"/>
            </a:endParaRPr>
          </a:p>
          <a:p>
            <a:pPr>
              <a:buNone/>
            </a:pPr>
            <a:r>
              <a:rPr lang="en-US" b="1">
                <a:latin typeface="Times New Roman"/>
                <a:ea typeface="+mn-lt"/>
                <a:cs typeface="+mn-lt"/>
              </a:rPr>
              <a:t>Decreasing loss:</a:t>
            </a:r>
            <a:r>
              <a:rPr lang="en-US">
                <a:latin typeface="Times New Roman"/>
                <a:ea typeface="+mn-lt"/>
                <a:cs typeface="+mn-lt"/>
              </a:rPr>
              <a:t> Indicates the model is learning.</a:t>
            </a:r>
            <a:endParaRPr lang="en-US">
              <a:latin typeface="Times New Roman"/>
              <a:cs typeface="Times New Roman"/>
            </a:endParaRPr>
          </a:p>
          <a:p>
            <a:pPr algn="just">
              <a:buNone/>
            </a:pPr>
            <a:r>
              <a:rPr lang="en-US" b="1">
                <a:latin typeface="Times New Roman"/>
                <a:ea typeface="+mn-lt"/>
                <a:cs typeface="+mn-lt"/>
              </a:rPr>
              <a:t>Increasing order : </a:t>
            </a:r>
            <a:r>
              <a:rPr lang="en-US">
                <a:latin typeface="Times New Roman"/>
                <a:ea typeface="+mn-lt"/>
                <a:cs typeface="+mn-lt"/>
              </a:rPr>
              <a:t>May suggest overfitting or a need</a:t>
            </a:r>
            <a:endParaRPr lang="en-US">
              <a:latin typeface="Times New Roman"/>
              <a:ea typeface="Calibri"/>
              <a:cs typeface="Calibri"/>
            </a:endParaRPr>
          </a:p>
        </p:txBody>
      </p:sp>
      <p:pic>
        <p:nvPicPr>
          <p:cNvPr id="4" name="Picture 3">
            <a:extLst>
              <a:ext uri="{FF2B5EF4-FFF2-40B4-BE49-F238E27FC236}">
                <a16:creationId xmlns:a16="http://schemas.microsoft.com/office/drawing/2014/main" id="{5F55C247-E959-13B8-820A-3A604D11394C}"/>
              </a:ext>
            </a:extLst>
          </p:cNvPr>
          <p:cNvPicPr>
            <a:picLocks noChangeAspect="1"/>
          </p:cNvPicPr>
          <p:nvPr/>
        </p:nvPicPr>
        <p:blipFill>
          <a:blip r:embed="rId2"/>
          <a:stretch>
            <a:fillRect/>
          </a:stretch>
        </p:blipFill>
        <p:spPr>
          <a:xfrm>
            <a:off x="5772651" y="488708"/>
            <a:ext cx="6412301" cy="5052056"/>
          </a:xfrm>
          <a:prstGeom prst="rect">
            <a:avLst/>
          </a:prstGeom>
        </p:spPr>
      </p:pic>
    </p:spTree>
    <p:extLst>
      <p:ext uri="{BB962C8B-B14F-4D97-AF65-F5344CB8AC3E}">
        <p14:creationId xmlns:p14="http://schemas.microsoft.com/office/powerpoint/2010/main" val="2288995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8D9A256-359E-3E14-9FA8-1ECC33281EBB}"/>
              </a:ext>
            </a:extLst>
          </p:cNvPr>
          <p:cNvSpPr txBox="1"/>
          <p:nvPr/>
        </p:nvSpPr>
        <p:spPr>
          <a:xfrm>
            <a:off x="1641988" y="433437"/>
            <a:ext cx="814272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a:latin typeface="Times New Roman"/>
                <a:ea typeface="Calibri"/>
                <a:cs typeface="Calibri"/>
              </a:rPr>
              <a:t>Comparison </a:t>
            </a:r>
            <a:r>
              <a:rPr lang="en-US" sz="3600" b="1">
                <a:effectLst/>
                <a:latin typeface="Times New Roman" panose="02020603050405020304" pitchFamily="18" charset="0"/>
                <a:ea typeface="SimSun" panose="02010600030101010101" pitchFamily="2" charset="-122"/>
              </a:rPr>
              <a:t>of different Techniques</a:t>
            </a:r>
            <a:r>
              <a:rPr lang="en-US" sz="3600" b="1">
                <a:latin typeface="Times New Roman"/>
                <a:ea typeface="Calibri"/>
                <a:cs typeface="Calibri"/>
              </a:rPr>
              <a:t>:</a:t>
            </a:r>
            <a:endParaRPr lang="en-US" sz="3600" b="1">
              <a:latin typeface="Calibri"/>
              <a:ea typeface="Calibri"/>
              <a:cs typeface="Calibri"/>
            </a:endParaRPr>
          </a:p>
        </p:txBody>
      </p:sp>
      <p:pic>
        <p:nvPicPr>
          <p:cNvPr id="2" name="image14.png">
            <a:extLst>
              <a:ext uri="{FF2B5EF4-FFF2-40B4-BE49-F238E27FC236}">
                <a16:creationId xmlns:a16="http://schemas.microsoft.com/office/drawing/2014/main" id="{F272F376-7DE8-032E-3881-66DE25FF8B4F}"/>
              </a:ext>
            </a:extLst>
          </p:cNvPr>
          <p:cNvPicPr/>
          <p:nvPr/>
        </p:nvPicPr>
        <p:blipFill>
          <a:blip r:embed="rId2"/>
          <a:srcRect/>
          <a:stretch>
            <a:fillRect/>
          </a:stretch>
        </p:blipFill>
        <p:spPr>
          <a:xfrm>
            <a:off x="1091381" y="1406013"/>
            <a:ext cx="9556954" cy="4788310"/>
          </a:xfrm>
          <a:prstGeom prst="rect">
            <a:avLst/>
          </a:prstGeom>
          <a:ln/>
        </p:spPr>
      </p:pic>
    </p:spTree>
    <p:extLst>
      <p:ext uri="{BB962C8B-B14F-4D97-AF65-F5344CB8AC3E}">
        <p14:creationId xmlns:p14="http://schemas.microsoft.com/office/powerpoint/2010/main" val="16298729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95D2F0D3-8156-C204-F5DA-23BBEE0C4181}"/>
              </a:ext>
            </a:extLst>
          </p:cNvPr>
          <p:cNvGraphicFramePr>
            <a:graphicFrameLocks noGrp="1"/>
          </p:cNvGraphicFramePr>
          <p:nvPr>
            <p:extLst>
              <p:ext uri="{D42A27DB-BD31-4B8C-83A1-F6EECF244321}">
                <p14:modId xmlns:p14="http://schemas.microsoft.com/office/powerpoint/2010/main" val="1715457385"/>
              </p:ext>
            </p:extLst>
          </p:nvPr>
        </p:nvGraphicFramePr>
        <p:xfrm>
          <a:off x="877018" y="1006415"/>
          <a:ext cx="8223260" cy="2219960"/>
        </p:xfrm>
        <a:graphic>
          <a:graphicData uri="http://schemas.openxmlformats.org/drawingml/2006/table">
            <a:tbl>
              <a:tblPr firstRow="1" bandRow="1">
                <a:tableStyleId>{5C22544A-7EE6-4342-B048-85BDC9FD1C3A}</a:tableStyleId>
              </a:tblPr>
              <a:tblGrid>
                <a:gridCol w="1688352">
                  <a:extLst>
                    <a:ext uri="{9D8B030D-6E8A-4147-A177-3AD203B41FA5}">
                      <a16:colId xmlns:a16="http://schemas.microsoft.com/office/drawing/2014/main" val="3331508130"/>
                    </a:ext>
                  </a:extLst>
                </a:gridCol>
                <a:gridCol w="1633727">
                  <a:extLst>
                    <a:ext uri="{9D8B030D-6E8A-4147-A177-3AD203B41FA5}">
                      <a16:colId xmlns:a16="http://schemas.microsoft.com/office/drawing/2014/main" val="3089236053"/>
                    </a:ext>
                  </a:extLst>
                </a:gridCol>
                <a:gridCol w="1633727">
                  <a:extLst>
                    <a:ext uri="{9D8B030D-6E8A-4147-A177-3AD203B41FA5}">
                      <a16:colId xmlns:a16="http://schemas.microsoft.com/office/drawing/2014/main" val="852694676"/>
                    </a:ext>
                  </a:extLst>
                </a:gridCol>
                <a:gridCol w="1633727">
                  <a:extLst>
                    <a:ext uri="{9D8B030D-6E8A-4147-A177-3AD203B41FA5}">
                      <a16:colId xmlns:a16="http://schemas.microsoft.com/office/drawing/2014/main" val="969307383"/>
                    </a:ext>
                  </a:extLst>
                </a:gridCol>
                <a:gridCol w="1633727">
                  <a:extLst>
                    <a:ext uri="{9D8B030D-6E8A-4147-A177-3AD203B41FA5}">
                      <a16:colId xmlns:a16="http://schemas.microsoft.com/office/drawing/2014/main" val="2196443027"/>
                    </a:ext>
                  </a:extLst>
                </a:gridCol>
              </a:tblGrid>
              <a:tr h="370840">
                <a:tc>
                  <a:txBody>
                    <a:bodyPr/>
                    <a:lstStyle/>
                    <a:p>
                      <a:endParaRPr lang="en-US"/>
                    </a:p>
                  </a:txBody>
                  <a:tcPr/>
                </a:tc>
                <a:tc>
                  <a:txBody>
                    <a:bodyPr/>
                    <a:lstStyle/>
                    <a:p>
                      <a:r>
                        <a:rPr lang="en-US"/>
                        <a:t>Precision</a:t>
                      </a:r>
                    </a:p>
                  </a:txBody>
                  <a:tcPr/>
                </a:tc>
                <a:tc>
                  <a:txBody>
                    <a:bodyPr/>
                    <a:lstStyle/>
                    <a:p>
                      <a:r>
                        <a:rPr lang="en-US"/>
                        <a:t>Recall</a:t>
                      </a:r>
                    </a:p>
                  </a:txBody>
                  <a:tcPr/>
                </a:tc>
                <a:tc>
                  <a:txBody>
                    <a:bodyPr/>
                    <a:lstStyle/>
                    <a:p>
                      <a:r>
                        <a:rPr lang="en-US"/>
                        <a:t>F1 - Score</a:t>
                      </a:r>
                    </a:p>
                  </a:txBody>
                  <a:tcPr/>
                </a:tc>
                <a:tc>
                  <a:txBody>
                    <a:bodyPr/>
                    <a:lstStyle/>
                    <a:p>
                      <a:r>
                        <a:rPr lang="en-US"/>
                        <a:t>Support</a:t>
                      </a:r>
                    </a:p>
                  </a:txBody>
                  <a:tcPr/>
                </a:tc>
                <a:extLst>
                  <a:ext uri="{0D108BD9-81ED-4DB2-BD59-A6C34878D82A}">
                    <a16:rowId xmlns:a16="http://schemas.microsoft.com/office/drawing/2014/main" val="1676880265"/>
                  </a:ext>
                </a:extLst>
              </a:tr>
              <a:tr h="370840">
                <a:tc>
                  <a:txBody>
                    <a:bodyPr/>
                    <a:lstStyle/>
                    <a:p>
                      <a:r>
                        <a:rPr lang="en-US">
                          <a:latin typeface="Times New Roman"/>
                        </a:rPr>
                        <a:t>0</a:t>
                      </a:r>
                    </a:p>
                  </a:txBody>
                  <a:tcPr/>
                </a:tc>
                <a:tc>
                  <a:txBody>
                    <a:bodyPr/>
                    <a:lstStyle/>
                    <a:p>
                      <a:r>
                        <a:rPr lang="en-US">
                          <a:latin typeface="Times New Roman"/>
                        </a:rPr>
                        <a:t>0.97</a:t>
                      </a:r>
                    </a:p>
                  </a:txBody>
                  <a:tcPr/>
                </a:tc>
                <a:tc>
                  <a:txBody>
                    <a:bodyPr/>
                    <a:lstStyle/>
                    <a:p>
                      <a:r>
                        <a:rPr lang="en-US">
                          <a:latin typeface="Times New Roman"/>
                        </a:rPr>
                        <a:t>0.96</a:t>
                      </a:r>
                    </a:p>
                  </a:txBody>
                  <a:tcPr/>
                </a:tc>
                <a:tc>
                  <a:txBody>
                    <a:bodyPr/>
                    <a:lstStyle/>
                    <a:p>
                      <a:r>
                        <a:rPr lang="en-US">
                          <a:latin typeface="Times New Roman"/>
                        </a:rPr>
                        <a:t>0.97</a:t>
                      </a:r>
                    </a:p>
                  </a:txBody>
                  <a:tcPr/>
                </a:tc>
                <a:tc>
                  <a:txBody>
                    <a:bodyPr/>
                    <a:lstStyle/>
                    <a:p>
                      <a:r>
                        <a:rPr lang="en-US">
                          <a:latin typeface="Times New Roman"/>
                        </a:rPr>
                        <a:t>1447</a:t>
                      </a:r>
                    </a:p>
                  </a:txBody>
                  <a:tcPr/>
                </a:tc>
                <a:extLst>
                  <a:ext uri="{0D108BD9-81ED-4DB2-BD59-A6C34878D82A}">
                    <a16:rowId xmlns:a16="http://schemas.microsoft.com/office/drawing/2014/main" val="700708115"/>
                  </a:ext>
                </a:extLst>
              </a:tr>
              <a:tr h="370840">
                <a:tc>
                  <a:txBody>
                    <a:bodyPr/>
                    <a:lstStyle/>
                    <a:p>
                      <a:r>
                        <a:rPr lang="en-US">
                          <a:latin typeface="Times New Roman"/>
                        </a:rPr>
                        <a:t>1</a:t>
                      </a:r>
                    </a:p>
                  </a:txBody>
                  <a:tcPr/>
                </a:tc>
                <a:tc>
                  <a:txBody>
                    <a:bodyPr/>
                    <a:lstStyle/>
                    <a:p>
                      <a:r>
                        <a:rPr lang="en-US">
                          <a:latin typeface="Times New Roman"/>
                        </a:rPr>
                        <a:t>0.95</a:t>
                      </a:r>
                    </a:p>
                  </a:txBody>
                  <a:tcPr/>
                </a:tc>
                <a:tc>
                  <a:txBody>
                    <a:bodyPr/>
                    <a:lstStyle/>
                    <a:p>
                      <a:r>
                        <a:rPr lang="en-US">
                          <a:latin typeface="Times New Roman"/>
                        </a:rPr>
                        <a:t>0.96</a:t>
                      </a:r>
                    </a:p>
                  </a:txBody>
                  <a:tcPr/>
                </a:tc>
                <a:tc>
                  <a:txBody>
                    <a:bodyPr/>
                    <a:lstStyle/>
                    <a:p>
                      <a:r>
                        <a:rPr lang="en-US">
                          <a:latin typeface="Times New Roman"/>
                        </a:rPr>
                        <a:t>0.96</a:t>
                      </a:r>
                    </a:p>
                  </a:txBody>
                  <a:tcPr/>
                </a:tc>
                <a:tc>
                  <a:txBody>
                    <a:bodyPr/>
                    <a:lstStyle/>
                    <a:p>
                      <a:r>
                        <a:rPr lang="en-US">
                          <a:latin typeface="Times New Roman"/>
                        </a:rPr>
                        <a:t>1186</a:t>
                      </a:r>
                    </a:p>
                  </a:txBody>
                  <a:tcPr/>
                </a:tc>
                <a:extLst>
                  <a:ext uri="{0D108BD9-81ED-4DB2-BD59-A6C34878D82A}">
                    <a16:rowId xmlns:a16="http://schemas.microsoft.com/office/drawing/2014/main" val="3287331410"/>
                  </a:ext>
                </a:extLst>
              </a:tr>
              <a:tr h="358588">
                <a:tc>
                  <a:txBody>
                    <a:bodyPr/>
                    <a:lstStyle/>
                    <a:p>
                      <a:r>
                        <a:rPr lang="en-US">
                          <a:latin typeface="Times New Roman"/>
                        </a:rPr>
                        <a:t>Accuracy</a:t>
                      </a:r>
                    </a:p>
                  </a:txBody>
                  <a:tcPr/>
                </a:tc>
                <a:tc>
                  <a:txBody>
                    <a:bodyPr/>
                    <a:lstStyle/>
                    <a:p>
                      <a:endParaRPr lang="en-US">
                        <a:latin typeface="Times New Roman"/>
                      </a:endParaRPr>
                    </a:p>
                  </a:txBody>
                  <a:tcPr/>
                </a:tc>
                <a:tc>
                  <a:txBody>
                    <a:bodyPr/>
                    <a:lstStyle/>
                    <a:p>
                      <a:endParaRPr lang="en-US">
                        <a:latin typeface="Times New Roman"/>
                      </a:endParaRPr>
                    </a:p>
                  </a:txBody>
                  <a:tcPr/>
                </a:tc>
                <a:tc>
                  <a:txBody>
                    <a:bodyPr/>
                    <a:lstStyle/>
                    <a:p>
                      <a:r>
                        <a:rPr lang="en-US">
                          <a:latin typeface="Times New Roman"/>
                        </a:rPr>
                        <a:t>0.96</a:t>
                      </a:r>
                    </a:p>
                  </a:txBody>
                  <a:tcPr/>
                </a:tc>
                <a:tc>
                  <a:txBody>
                    <a:bodyPr/>
                    <a:lstStyle/>
                    <a:p>
                      <a:r>
                        <a:rPr lang="en-US">
                          <a:latin typeface="Times New Roman"/>
                        </a:rPr>
                        <a:t>2633</a:t>
                      </a:r>
                    </a:p>
                  </a:txBody>
                  <a:tcPr/>
                </a:tc>
                <a:extLst>
                  <a:ext uri="{0D108BD9-81ED-4DB2-BD59-A6C34878D82A}">
                    <a16:rowId xmlns:a16="http://schemas.microsoft.com/office/drawing/2014/main" val="3029907210"/>
                  </a:ext>
                </a:extLst>
              </a:tr>
              <a:tr h="370840">
                <a:tc>
                  <a:txBody>
                    <a:bodyPr/>
                    <a:lstStyle/>
                    <a:p>
                      <a:r>
                        <a:rPr lang="en-US">
                          <a:latin typeface="Times New Roman"/>
                        </a:rPr>
                        <a:t>Macro avg.</a:t>
                      </a:r>
                    </a:p>
                  </a:txBody>
                  <a:tcPr/>
                </a:tc>
                <a:tc>
                  <a:txBody>
                    <a:bodyPr/>
                    <a:lstStyle/>
                    <a:p>
                      <a:r>
                        <a:rPr lang="en-US">
                          <a:latin typeface="Times New Roman"/>
                        </a:rPr>
                        <a:t>0.96</a:t>
                      </a:r>
                    </a:p>
                  </a:txBody>
                  <a:tcPr/>
                </a:tc>
                <a:tc>
                  <a:txBody>
                    <a:bodyPr/>
                    <a:lstStyle/>
                    <a:p>
                      <a:r>
                        <a:rPr lang="en-US">
                          <a:latin typeface="Times New Roman"/>
                        </a:rPr>
                        <a:t>0.96</a:t>
                      </a:r>
                    </a:p>
                  </a:txBody>
                  <a:tcPr/>
                </a:tc>
                <a:tc>
                  <a:txBody>
                    <a:bodyPr/>
                    <a:lstStyle/>
                    <a:p>
                      <a:r>
                        <a:rPr lang="en-US">
                          <a:latin typeface="Times New Roman"/>
                        </a:rPr>
                        <a:t>0.96</a:t>
                      </a:r>
                    </a:p>
                  </a:txBody>
                  <a:tcPr/>
                </a:tc>
                <a:tc>
                  <a:txBody>
                    <a:bodyPr/>
                    <a:lstStyle/>
                    <a:p>
                      <a:r>
                        <a:rPr lang="en-US">
                          <a:latin typeface="Times New Roman"/>
                        </a:rPr>
                        <a:t>2633</a:t>
                      </a:r>
                    </a:p>
                  </a:txBody>
                  <a:tcPr/>
                </a:tc>
                <a:extLst>
                  <a:ext uri="{0D108BD9-81ED-4DB2-BD59-A6C34878D82A}">
                    <a16:rowId xmlns:a16="http://schemas.microsoft.com/office/drawing/2014/main" val="3234746692"/>
                  </a:ext>
                </a:extLst>
              </a:tr>
              <a:tr h="370840">
                <a:tc>
                  <a:txBody>
                    <a:bodyPr/>
                    <a:lstStyle/>
                    <a:p>
                      <a:r>
                        <a:rPr lang="en-US">
                          <a:latin typeface="Times New Roman"/>
                        </a:rPr>
                        <a:t>Weighted avg.</a:t>
                      </a:r>
                    </a:p>
                  </a:txBody>
                  <a:tcPr/>
                </a:tc>
                <a:tc>
                  <a:txBody>
                    <a:bodyPr/>
                    <a:lstStyle/>
                    <a:p>
                      <a:r>
                        <a:rPr lang="en-US">
                          <a:latin typeface="Times New Roman"/>
                        </a:rPr>
                        <a:t>0.96</a:t>
                      </a:r>
                    </a:p>
                  </a:txBody>
                  <a:tcPr/>
                </a:tc>
                <a:tc>
                  <a:txBody>
                    <a:bodyPr/>
                    <a:lstStyle/>
                    <a:p>
                      <a:r>
                        <a:rPr lang="en-US">
                          <a:latin typeface="Times New Roman"/>
                        </a:rPr>
                        <a:t>0.96</a:t>
                      </a:r>
                    </a:p>
                  </a:txBody>
                  <a:tcPr/>
                </a:tc>
                <a:tc>
                  <a:txBody>
                    <a:bodyPr/>
                    <a:lstStyle/>
                    <a:p>
                      <a:r>
                        <a:rPr lang="en-US">
                          <a:latin typeface="Times New Roman"/>
                        </a:rPr>
                        <a:t>0.96</a:t>
                      </a:r>
                    </a:p>
                  </a:txBody>
                  <a:tcPr/>
                </a:tc>
                <a:tc>
                  <a:txBody>
                    <a:bodyPr/>
                    <a:lstStyle/>
                    <a:p>
                      <a:r>
                        <a:rPr lang="en-US">
                          <a:latin typeface="Times New Roman"/>
                        </a:rPr>
                        <a:t>2633</a:t>
                      </a:r>
                    </a:p>
                  </a:txBody>
                  <a:tcPr/>
                </a:tc>
                <a:extLst>
                  <a:ext uri="{0D108BD9-81ED-4DB2-BD59-A6C34878D82A}">
                    <a16:rowId xmlns:a16="http://schemas.microsoft.com/office/drawing/2014/main" val="3815905145"/>
                  </a:ext>
                </a:extLst>
              </a:tr>
            </a:tbl>
          </a:graphicData>
        </a:graphic>
      </p:graphicFrame>
      <p:sp>
        <p:nvSpPr>
          <p:cNvPr id="7" name="TextBox 6">
            <a:extLst>
              <a:ext uri="{FF2B5EF4-FFF2-40B4-BE49-F238E27FC236}">
                <a16:creationId xmlns:a16="http://schemas.microsoft.com/office/drawing/2014/main" id="{7E154344-D9DE-B341-EADD-8105C4231EBC}"/>
              </a:ext>
            </a:extLst>
          </p:cNvPr>
          <p:cNvSpPr txBox="1"/>
          <p:nvPr/>
        </p:nvSpPr>
        <p:spPr>
          <a:xfrm>
            <a:off x="926916" y="381704"/>
            <a:ext cx="608049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u="sng">
                <a:latin typeface="Times New Roman"/>
                <a:ea typeface="Calibri"/>
                <a:cs typeface="Calibri"/>
              </a:rPr>
              <a:t>Classification Report of Training Set:</a:t>
            </a:r>
            <a:endParaRPr lang="en-US" sz="2800" b="1" u="sng">
              <a:latin typeface="Times New Roman"/>
              <a:cs typeface="Times New Roman"/>
            </a:endParaRPr>
          </a:p>
        </p:txBody>
      </p:sp>
      <p:graphicFrame>
        <p:nvGraphicFramePr>
          <p:cNvPr id="8" name="Table 7">
            <a:extLst>
              <a:ext uri="{FF2B5EF4-FFF2-40B4-BE49-F238E27FC236}">
                <a16:creationId xmlns:a16="http://schemas.microsoft.com/office/drawing/2014/main" id="{BB485C5C-1DE1-E834-5401-691644682962}"/>
              </a:ext>
            </a:extLst>
          </p:cNvPr>
          <p:cNvGraphicFramePr>
            <a:graphicFrameLocks noGrp="1"/>
          </p:cNvGraphicFramePr>
          <p:nvPr>
            <p:extLst>
              <p:ext uri="{D42A27DB-BD31-4B8C-83A1-F6EECF244321}">
                <p14:modId xmlns:p14="http://schemas.microsoft.com/office/powerpoint/2010/main" val="3995980707"/>
              </p:ext>
            </p:extLst>
          </p:nvPr>
        </p:nvGraphicFramePr>
        <p:xfrm>
          <a:off x="933378" y="4244829"/>
          <a:ext cx="8168640" cy="2225040"/>
        </p:xfrm>
        <a:graphic>
          <a:graphicData uri="http://schemas.openxmlformats.org/drawingml/2006/table">
            <a:tbl>
              <a:tblPr firstRow="1" bandRow="1">
                <a:tableStyleId>{5C22544A-7EE6-4342-B048-85BDC9FD1C3A}</a:tableStyleId>
              </a:tblPr>
              <a:tblGrid>
                <a:gridCol w="1633728">
                  <a:extLst>
                    <a:ext uri="{9D8B030D-6E8A-4147-A177-3AD203B41FA5}">
                      <a16:colId xmlns:a16="http://schemas.microsoft.com/office/drawing/2014/main" val="3508020358"/>
                    </a:ext>
                  </a:extLst>
                </a:gridCol>
                <a:gridCol w="1633728">
                  <a:extLst>
                    <a:ext uri="{9D8B030D-6E8A-4147-A177-3AD203B41FA5}">
                      <a16:colId xmlns:a16="http://schemas.microsoft.com/office/drawing/2014/main" val="2520489483"/>
                    </a:ext>
                  </a:extLst>
                </a:gridCol>
                <a:gridCol w="1633728">
                  <a:extLst>
                    <a:ext uri="{9D8B030D-6E8A-4147-A177-3AD203B41FA5}">
                      <a16:colId xmlns:a16="http://schemas.microsoft.com/office/drawing/2014/main" val="533809803"/>
                    </a:ext>
                  </a:extLst>
                </a:gridCol>
                <a:gridCol w="1633728">
                  <a:extLst>
                    <a:ext uri="{9D8B030D-6E8A-4147-A177-3AD203B41FA5}">
                      <a16:colId xmlns:a16="http://schemas.microsoft.com/office/drawing/2014/main" val="1011117468"/>
                    </a:ext>
                  </a:extLst>
                </a:gridCol>
                <a:gridCol w="1633728">
                  <a:extLst>
                    <a:ext uri="{9D8B030D-6E8A-4147-A177-3AD203B41FA5}">
                      <a16:colId xmlns:a16="http://schemas.microsoft.com/office/drawing/2014/main" val="2704056756"/>
                    </a:ext>
                  </a:extLst>
                </a:gridCol>
              </a:tblGrid>
              <a:tr h="370840">
                <a:tc>
                  <a:txBody>
                    <a:bodyPr/>
                    <a:lstStyle/>
                    <a:p>
                      <a:endParaRPr lang="en-US"/>
                    </a:p>
                  </a:txBody>
                  <a:tcPr/>
                </a:tc>
                <a:tc>
                  <a:txBody>
                    <a:bodyPr/>
                    <a:lstStyle/>
                    <a:p>
                      <a:r>
                        <a:rPr lang="en-US"/>
                        <a:t>Precision</a:t>
                      </a:r>
                    </a:p>
                  </a:txBody>
                  <a:tcPr/>
                </a:tc>
                <a:tc>
                  <a:txBody>
                    <a:bodyPr/>
                    <a:lstStyle/>
                    <a:p>
                      <a:r>
                        <a:rPr lang="en-US"/>
                        <a:t>Recall</a:t>
                      </a:r>
                    </a:p>
                  </a:txBody>
                  <a:tcPr/>
                </a:tc>
                <a:tc>
                  <a:txBody>
                    <a:bodyPr/>
                    <a:lstStyle/>
                    <a:p>
                      <a:r>
                        <a:rPr lang="en-US"/>
                        <a:t>F1 - Score</a:t>
                      </a:r>
                    </a:p>
                  </a:txBody>
                  <a:tcPr/>
                </a:tc>
                <a:tc>
                  <a:txBody>
                    <a:bodyPr/>
                    <a:lstStyle/>
                    <a:p>
                      <a:r>
                        <a:rPr lang="en-US"/>
                        <a:t>Support</a:t>
                      </a:r>
                    </a:p>
                  </a:txBody>
                  <a:tcPr/>
                </a:tc>
                <a:extLst>
                  <a:ext uri="{0D108BD9-81ED-4DB2-BD59-A6C34878D82A}">
                    <a16:rowId xmlns:a16="http://schemas.microsoft.com/office/drawing/2014/main" val="3371068316"/>
                  </a:ext>
                </a:extLst>
              </a:tr>
              <a:tr h="370840">
                <a:tc>
                  <a:txBody>
                    <a:bodyPr/>
                    <a:lstStyle/>
                    <a:p>
                      <a:r>
                        <a:rPr lang="en-US">
                          <a:latin typeface="Times New Roman"/>
                        </a:rPr>
                        <a:t>0</a:t>
                      </a:r>
                    </a:p>
                  </a:txBody>
                  <a:tcPr/>
                </a:tc>
                <a:tc>
                  <a:txBody>
                    <a:bodyPr/>
                    <a:lstStyle/>
                    <a:p>
                      <a:r>
                        <a:rPr lang="en-US">
                          <a:latin typeface="Times New Roman"/>
                        </a:rPr>
                        <a:t>0.97</a:t>
                      </a:r>
                    </a:p>
                  </a:txBody>
                  <a:tcPr/>
                </a:tc>
                <a:tc>
                  <a:txBody>
                    <a:bodyPr/>
                    <a:lstStyle/>
                    <a:p>
                      <a:r>
                        <a:rPr lang="en-US">
                          <a:latin typeface="Times New Roman"/>
                        </a:rPr>
                        <a:t>0.93</a:t>
                      </a:r>
                    </a:p>
                  </a:txBody>
                  <a:tcPr/>
                </a:tc>
                <a:tc>
                  <a:txBody>
                    <a:bodyPr/>
                    <a:lstStyle/>
                    <a:p>
                      <a:r>
                        <a:rPr lang="en-US">
                          <a:latin typeface="Times New Roman"/>
                        </a:rPr>
                        <a:t>0.95</a:t>
                      </a:r>
                    </a:p>
                  </a:txBody>
                  <a:tcPr/>
                </a:tc>
                <a:tc>
                  <a:txBody>
                    <a:bodyPr/>
                    <a:lstStyle/>
                    <a:p>
                      <a:r>
                        <a:rPr lang="en-US">
                          <a:latin typeface="Times New Roman"/>
                        </a:rPr>
                        <a:t>358</a:t>
                      </a:r>
                    </a:p>
                  </a:txBody>
                  <a:tcPr/>
                </a:tc>
                <a:extLst>
                  <a:ext uri="{0D108BD9-81ED-4DB2-BD59-A6C34878D82A}">
                    <a16:rowId xmlns:a16="http://schemas.microsoft.com/office/drawing/2014/main" val="3806329617"/>
                  </a:ext>
                </a:extLst>
              </a:tr>
              <a:tr h="370840">
                <a:tc>
                  <a:txBody>
                    <a:bodyPr/>
                    <a:lstStyle/>
                    <a:p>
                      <a:r>
                        <a:rPr lang="en-US">
                          <a:latin typeface="Times New Roman"/>
                        </a:rPr>
                        <a:t>1</a:t>
                      </a:r>
                    </a:p>
                  </a:txBody>
                  <a:tcPr/>
                </a:tc>
                <a:tc>
                  <a:txBody>
                    <a:bodyPr/>
                    <a:lstStyle/>
                    <a:p>
                      <a:r>
                        <a:rPr lang="en-US">
                          <a:latin typeface="Times New Roman"/>
                        </a:rPr>
                        <a:t>0.92</a:t>
                      </a:r>
                    </a:p>
                  </a:txBody>
                  <a:tcPr/>
                </a:tc>
                <a:tc>
                  <a:txBody>
                    <a:bodyPr/>
                    <a:lstStyle/>
                    <a:p>
                      <a:r>
                        <a:rPr lang="en-US">
                          <a:latin typeface="Times New Roman"/>
                        </a:rPr>
                        <a:t>0.96</a:t>
                      </a:r>
                    </a:p>
                  </a:txBody>
                  <a:tcPr/>
                </a:tc>
                <a:tc>
                  <a:txBody>
                    <a:bodyPr/>
                    <a:lstStyle/>
                    <a:p>
                      <a:r>
                        <a:rPr lang="en-US">
                          <a:latin typeface="Times New Roman"/>
                        </a:rPr>
                        <a:t>0.94</a:t>
                      </a:r>
                    </a:p>
                  </a:txBody>
                  <a:tcPr/>
                </a:tc>
                <a:tc>
                  <a:txBody>
                    <a:bodyPr/>
                    <a:lstStyle/>
                    <a:p>
                      <a:r>
                        <a:rPr lang="en-US">
                          <a:latin typeface="Times New Roman"/>
                        </a:rPr>
                        <a:t>301</a:t>
                      </a:r>
                    </a:p>
                  </a:txBody>
                  <a:tcPr/>
                </a:tc>
                <a:extLst>
                  <a:ext uri="{0D108BD9-81ED-4DB2-BD59-A6C34878D82A}">
                    <a16:rowId xmlns:a16="http://schemas.microsoft.com/office/drawing/2014/main" val="1344644539"/>
                  </a:ext>
                </a:extLst>
              </a:tr>
              <a:tr h="370840">
                <a:tc>
                  <a:txBody>
                    <a:bodyPr/>
                    <a:lstStyle/>
                    <a:p>
                      <a:r>
                        <a:rPr lang="en-US">
                          <a:latin typeface="Times New Roman"/>
                        </a:rPr>
                        <a:t>Accuracy</a:t>
                      </a:r>
                    </a:p>
                  </a:txBody>
                  <a:tcPr/>
                </a:tc>
                <a:tc>
                  <a:txBody>
                    <a:bodyPr/>
                    <a:lstStyle/>
                    <a:p>
                      <a:endParaRPr lang="en-US">
                        <a:latin typeface="Times New Roman"/>
                      </a:endParaRPr>
                    </a:p>
                  </a:txBody>
                  <a:tcPr/>
                </a:tc>
                <a:tc>
                  <a:txBody>
                    <a:bodyPr/>
                    <a:lstStyle/>
                    <a:p>
                      <a:endParaRPr lang="en-US">
                        <a:latin typeface="Times New Roman"/>
                      </a:endParaRPr>
                    </a:p>
                  </a:txBody>
                  <a:tcPr/>
                </a:tc>
                <a:tc>
                  <a:txBody>
                    <a:bodyPr/>
                    <a:lstStyle/>
                    <a:p>
                      <a:r>
                        <a:rPr lang="en-US">
                          <a:latin typeface="Times New Roman"/>
                        </a:rPr>
                        <a:t>0.94</a:t>
                      </a:r>
                    </a:p>
                  </a:txBody>
                  <a:tcPr/>
                </a:tc>
                <a:tc>
                  <a:txBody>
                    <a:bodyPr/>
                    <a:lstStyle/>
                    <a:p>
                      <a:r>
                        <a:rPr lang="en-US">
                          <a:latin typeface="Times New Roman"/>
                        </a:rPr>
                        <a:t>659</a:t>
                      </a:r>
                    </a:p>
                  </a:txBody>
                  <a:tcPr/>
                </a:tc>
                <a:extLst>
                  <a:ext uri="{0D108BD9-81ED-4DB2-BD59-A6C34878D82A}">
                    <a16:rowId xmlns:a16="http://schemas.microsoft.com/office/drawing/2014/main" val="2112538683"/>
                  </a:ext>
                </a:extLst>
              </a:tr>
              <a:tr h="370840">
                <a:tc>
                  <a:txBody>
                    <a:bodyPr/>
                    <a:lstStyle/>
                    <a:p>
                      <a:r>
                        <a:rPr lang="en-US">
                          <a:latin typeface="Times New Roman"/>
                        </a:rPr>
                        <a:t>Macro avg.</a:t>
                      </a:r>
                    </a:p>
                  </a:txBody>
                  <a:tcPr/>
                </a:tc>
                <a:tc>
                  <a:txBody>
                    <a:bodyPr/>
                    <a:lstStyle/>
                    <a:p>
                      <a:r>
                        <a:rPr lang="en-US">
                          <a:latin typeface="Times New Roman"/>
                        </a:rPr>
                        <a:t>0.94</a:t>
                      </a:r>
                    </a:p>
                  </a:txBody>
                  <a:tcPr/>
                </a:tc>
                <a:tc>
                  <a:txBody>
                    <a:bodyPr/>
                    <a:lstStyle/>
                    <a:p>
                      <a:r>
                        <a:rPr lang="en-US">
                          <a:latin typeface="Times New Roman"/>
                        </a:rPr>
                        <a:t>0.94</a:t>
                      </a:r>
                    </a:p>
                  </a:txBody>
                  <a:tcPr/>
                </a:tc>
                <a:tc>
                  <a:txBody>
                    <a:bodyPr/>
                    <a:lstStyle/>
                    <a:p>
                      <a:r>
                        <a:rPr lang="en-US">
                          <a:latin typeface="Times New Roman"/>
                        </a:rPr>
                        <a:t>0.94</a:t>
                      </a:r>
                    </a:p>
                  </a:txBody>
                  <a:tcPr/>
                </a:tc>
                <a:tc>
                  <a:txBody>
                    <a:bodyPr/>
                    <a:lstStyle/>
                    <a:p>
                      <a:r>
                        <a:rPr lang="en-US">
                          <a:latin typeface="Times New Roman"/>
                        </a:rPr>
                        <a:t>659</a:t>
                      </a:r>
                    </a:p>
                  </a:txBody>
                  <a:tcPr/>
                </a:tc>
                <a:extLst>
                  <a:ext uri="{0D108BD9-81ED-4DB2-BD59-A6C34878D82A}">
                    <a16:rowId xmlns:a16="http://schemas.microsoft.com/office/drawing/2014/main" val="239122495"/>
                  </a:ext>
                </a:extLst>
              </a:tr>
              <a:tr h="370840">
                <a:tc>
                  <a:txBody>
                    <a:bodyPr/>
                    <a:lstStyle/>
                    <a:p>
                      <a:r>
                        <a:rPr lang="en-US">
                          <a:latin typeface="Times New Roman"/>
                        </a:rPr>
                        <a:t>Weighted avg.</a:t>
                      </a:r>
                    </a:p>
                  </a:txBody>
                  <a:tcPr/>
                </a:tc>
                <a:tc>
                  <a:txBody>
                    <a:bodyPr/>
                    <a:lstStyle/>
                    <a:p>
                      <a:r>
                        <a:rPr lang="en-US">
                          <a:latin typeface="Times New Roman"/>
                        </a:rPr>
                        <a:t>0.94</a:t>
                      </a:r>
                    </a:p>
                  </a:txBody>
                  <a:tcPr/>
                </a:tc>
                <a:tc>
                  <a:txBody>
                    <a:bodyPr/>
                    <a:lstStyle/>
                    <a:p>
                      <a:r>
                        <a:rPr lang="en-US">
                          <a:latin typeface="Times New Roman"/>
                        </a:rPr>
                        <a:t>0.94</a:t>
                      </a:r>
                    </a:p>
                  </a:txBody>
                  <a:tcPr/>
                </a:tc>
                <a:tc>
                  <a:txBody>
                    <a:bodyPr/>
                    <a:lstStyle/>
                    <a:p>
                      <a:r>
                        <a:rPr lang="en-US">
                          <a:latin typeface="Times New Roman"/>
                        </a:rPr>
                        <a:t>0.94</a:t>
                      </a:r>
                    </a:p>
                  </a:txBody>
                  <a:tcPr/>
                </a:tc>
                <a:tc>
                  <a:txBody>
                    <a:bodyPr/>
                    <a:lstStyle/>
                    <a:p>
                      <a:r>
                        <a:rPr lang="en-US">
                          <a:latin typeface="Times New Roman"/>
                        </a:rPr>
                        <a:t>659</a:t>
                      </a:r>
                    </a:p>
                  </a:txBody>
                  <a:tcPr/>
                </a:tc>
                <a:extLst>
                  <a:ext uri="{0D108BD9-81ED-4DB2-BD59-A6C34878D82A}">
                    <a16:rowId xmlns:a16="http://schemas.microsoft.com/office/drawing/2014/main" val="1438071951"/>
                  </a:ext>
                </a:extLst>
              </a:tr>
            </a:tbl>
          </a:graphicData>
        </a:graphic>
      </p:graphicFrame>
      <p:sp>
        <p:nvSpPr>
          <p:cNvPr id="9" name="TextBox 8">
            <a:extLst>
              <a:ext uri="{FF2B5EF4-FFF2-40B4-BE49-F238E27FC236}">
                <a16:creationId xmlns:a16="http://schemas.microsoft.com/office/drawing/2014/main" id="{E4AAECE6-D978-3334-4106-557C43EBDCB3}"/>
              </a:ext>
            </a:extLst>
          </p:cNvPr>
          <p:cNvSpPr txBox="1"/>
          <p:nvPr/>
        </p:nvSpPr>
        <p:spPr>
          <a:xfrm>
            <a:off x="927199" y="3620557"/>
            <a:ext cx="575235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u="sng">
                <a:latin typeface="Times New Roman"/>
                <a:ea typeface="Calibri"/>
                <a:cs typeface="Calibri"/>
              </a:rPr>
              <a:t>Classification Report of Test Set:</a:t>
            </a:r>
            <a:endParaRPr lang="en-US" sz="2800" b="1" u="sng">
              <a:latin typeface="Times New Roman"/>
            </a:endParaRPr>
          </a:p>
        </p:txBody>
      </p:sp>
    </p:spTree>
    <p:extLst>
      <p:ext uri="{BB962C8B-B14F-4D97-AF65-F5344CB8AC3E}">
        <p14:creationId xmlns:p14="http://schemas.microsoft.com/office/powerpoint/2010/main" val="30054784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84200" y="365125"/>
            <a:ext cx="10769600" cy="939800"/>
          </a:xfrm>
        </p:spPr>
        <p:txBody>
          <a:bodyPr/>
          <a:lstStyle/>
          <a:p>
            <a:pPr algn="ctr"/>
            <a:r>
              <a:rPr lang="en-IN" altLang="en-US" b="1" u="sng"/>
              <a:t>Current Progress</a:t>
            </a:r>
            <a:endParaRPr lang="en-IN" altLang="en-US" b="1" u="sng">
              <a:ea typeface="Calibri Light"/>
              <a:cs typeface="Calibri Light"/>
            </a:endParaRPr>
          </a:p>
        </p:txBody>
      </p:sp>
      <p:sp>
        <p:nvSpPr>
          <p:cNvPr id="5" name="Content Placeholder 4"/>
          <p:cNvSpPr>
            <a:spLocks noGrp="1"/>
          </p:cNvSpPr>
          <p:nvPr>
            <p:ph idx="1"/>
          </p:nvPr>
        </p:nvSpPr>
        <p:spPr>
          <a:xfrm>
            <a:off x="584835" y="1368425"/>
            <a:ext cx="10768965" cy="5124450"/>
          </a:xfrm>
        </p:spPr>
        <p:txBody>
          <a:bodyPr vert="horz" lIns="91440" tIns="45720" rIns="91440" bIns="45720" rtlCol="0" anchor="t">
            <a:normAutofit/>
          </a:bodyPr>
          <a:lstStyle/>
          <a:p>
            <a:r>
              <a:rPr lang="en-IN" sz="3600" spc="-30">
                <a:latin typeface="Times New Roman"/>
                <a:cs typeface="Times New Roman"/>
                <a:sym typeface="+mn-ea"/>
              </a:rPr>
              <a:t>Obtained the required result.</a:t>
            </a:r>
            <a:endParaRPr lang="en-IN" sz="3600" spc="-30" dirty="0">
              <a:latin typeface="Times New Roman"/>
              <a:cs typeface="Times New Roman"/>
            </a:endParaRPr>
          </a:p>
          <a:p>
            <a:r>
              <a:rPr lang="en-IN" sz="3600" spc="-30">
                <a:latin typeface="Times New Roman"/>
                <a:cs typeface="Times New Roman"/>
                <a:sym typeface="+mn-ea"/>
              </a:rPr>
              <a:t>Submitted to conference</a:t>
            </a:r>
            <a:r>
              <a:rPr lang="en-IN" sz="3600" spc="-30" dirty="0">
                <a:latin typeface="Times New Roman"/>
                <a:cs typeface="Times New Roman"/>
                <a:sym typeface="+mn-ea"/>
              </a:rPr>
              <a:t> in 11th International Conference On Smart Computing and Communication(ICSCC 2025).</a:t>
            </a:r>
            <a:endParaRPr lang="en-IN" sz="3600" spc="-30" dirty="0">
              <a:latin typeface="Times New Roman"/>
              <a:cs typeface="Times New Roman"/>
            </a:endParaRPr>
          </a:p>
          <a:p>
            <a:r>
              <a:rPr lang="en-IN" sz="3600" spc="-30">
                <a:latin typeface="Times New Roman"/>
                <a:cs typeface="Times New Roman"/>
                <a:sym typeface="+mn-ea"/>
              </a:rPr>
              <a:t>50% Documentation is completed.</a:t>
            </a:r>
            <a:endParaRPr lang="en-IN" sz="3600" spc="-30">
              <a:latin typeface="Times New Roman"/>
              <a:cs typeface="Times New Roman"/>
            </a:endParaRPr>
          </a:p>
          <a:p>
            <a:pPr marL="0" indent="0">
              <a:buNone/>
            </a:pPr>
            <a:endParaRPr lang="en-IN" spc="-30">
              <a:latin typeface="Times New Roman" panose="02020603050405020304" pitchFamily="18" charset="0"/>
              <a:cs typeface="Times New Roman" panose="02020603050405020304" pitchFamily="18" charset="0"/>
              <a:sym typeface="+mn-ea"/>
            </a:endParaRPr>
          </a:p>
          <a:p>
            <a:endParaRPr lang="en-IN" spc="-3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2141882083"/>
              </p:ext>
            </p:extLst>
          </p:nvPr>
        </p:nvGraphicFramePr>
        <p:xfrm>
          <a:off x="1288025" y="1523999"/>
          <a:ext cx="9412057" cy="4887675"/>
        </p:xfrm>
        <a:graphic>
          <a:graphicData uri="http://schemas.openxmlformats.org/drawingml/2006/table">
            <a:tbl>
              <a:tblPr firstRow="1" bandRow="1">
                <a:tableStyleId>{2D5ABB26-0587-4C30-8999-92F81FD0307C}</a:tableStyleId>
              </a:tblPr>
              <a:tblGrid>
                <a:gridCol w="3137352">
                  <a:extLst>
                    <a:ext uri="{9D8B030D-6E8A-4147-A177-3AD203B41FA5}">
                      <a16:colId xmlns:a16="http://schemas.microsoft.com/office/drawing/2014/main" val="20000"/>
                    </a:ext>
                  </a:extLst>
                </a:gridCol>
                <a:gridCol w="3459456">
                  <a:extLst>
                    <a:ext uri="{9D8B030D-6E8A-4147-A177-3AD203B41FA5}">
                      <a16:colId xmlns:a16="http://schemas.microsoft.com/office/drawing/2014/main" val="20001"/>
                    </a:ext>
                  </a:extLst>
                </a:gridCol>
                <a:gridCol w="2815249">
                  <a:extLst>
                    <a:ext uri="{9D8B030D-6E8A-4147-A177-3AD203B41FA5}">
                      <a16:colId xmlns:a16="http://schemas.microsoft.com/office/drawing/2014/main" val="20002"/>
                    </a:ext>
                  </a:extLst>
                </a:gridCol>
              </a:tblGrid>
              <a:tr h="439493">
                <a:tc>
                  <a:txBody>
                    <a:bodyPr/>
                    <a:lstStyle/>
                    <a:p>
                      <a:pPr marL="91440">
                        <a:lnSpc>
                          <a:spcPct val="100000"/>
                        </a:lnSpc>
                        <a:spcBef>
                          <a:spcPts val="260"/>
                        </a:spcBef>
                      </a:pPr>
                      <a:r>
                        <a:rPr sz="1800" b="1" spc="-10">
                          <a:solidFill>
                            <a:srgbClr val="FFFFFF"/>
                          </a:solidFill>
                          <a:latin typeface="Carlito"/>
                          <a:cs typeface="Carlito"/>
                        </a:rPr>
                        <a:t>Month</a:t>
                      </a:r>
                      <a:endParaRPr sz="1800">
                        <a:latin typeface="Carlito"/>
                        <a:cs typeface="Carlito"/>
                      </a:endParaRPr>
                    </a:p>
                  </a:txBody>
                  <a:tcPr marL="0" marR="0" marT="33020" marB="0">
                    <a:lnL w="12700">
                      <a:solidFill>
                        <a:srgbClr val="FFFFFF"/>
                      </a:solidFill>
                      <a:prstDash val="solid"/>
                    </a:lnL>
                    <a:lnR w="12700">
                      <a:solidFill>
                        <a:srgbClr val="FFFFFF"/>
                      </a:solidFill>
                      <a:prstDash val="solid"/>
                    </a:lnR>
                    <a:lnT w="12700">
                      <a:solidFill>
                        <a:srgbClr val="FFFFFF"/>
                      </a:solidFill>
                      <a:prstDash val="solid"/>
                    </a:lnT>
                    <a:solidFill>
                      <a:srgbClr val="4471C4"/>
                    </a:solidFill>
                  </a:tcPr>
                </a:tc>
                <a:tc>
                  <a:txBody>
                    <a:bodyPr/>
                    <a:lstStyle/>
                    <a:p>
                      <a:pPr marL="91440">
                        <a:lnSpc>
                          <a:spcPct val="100000"/>
                        </a:lnSpc>
                        <a:spcBef>
                          <a:spcPts val="260"/>
                        </a:spcBef>
                      </a:pPr>
                      <a:r>
                        <a:rPr sz="1800" b="1" spc="-10">
                          <a:solidFill>
                            <a:srgbClr val="FFFFFF"/>
                          </a:solidFill>
                          <a:latin typeface="Carlito"/>
                          <a:cs typeface="Carlito"/>
                        </a:rPr>
                        <a:t>Activity</a:t>
                      </a:r>
                      <a:endParaRPr sz="1800">
                        <a:latin typeface="Carlito"/>
                        <a:cs typeface="Carlito"/>
                      </a:endParaRPr>
                    </a:p>
                  </a:txBody>
                  <a:tcPr marL="0" marR="0" marT="33020" marB="0">
                    <a:lnL w="12700">
                      <a:solidFill>
                        <a:srgbClr val="FFFFFF"/>
                      </a:solidFill>
                      <a:prstDash val="solid"/>
                    </a:lnL>
                    <a:lnR w="12700">
                      <a:solidFill>
                        <a:srgbClr val="FFFFFF"/>
                      </a:solidFill>
                      <a:prstDash val="solid"/>
                    </a:lnR>
                    <a:lnT w="12700">
                      <a:solidFill>
                        <a:srgbClr val="FFFFFF"/>
                      </a:solidFill>
                      <a:prstDash val="solid"/>
                    </a:lnT>
                    <a:solidFill>
                      <a:srgbClr val="4471C4"/>
                    </a:solidFill>
                  </a:tcPr>
                </a:tc>
                <a:tc>
                  <a:txBody>
                    <a:bodyPr/>
                    <a:lstStyle/>
                    <a:p>
                      <a:pPr marL="91440">
                        <a:lnSpc>
                          <a:spcPct val="100000"/>
                        </a:lnSpc>
                        <a:spcBef>
                          <a:spcPts val="260"/>
                        </a:spcBef>
                      </a:pPr>
                      <a:r>
                        <a:rPr sz="1800" b="1" spc="-10">
                          <a:solidFill>
                            <a:srgbClr val="FFFFFF"/>
                          </a:solidFill>
                          <a:latin typeface="Carlito"/>
                          <a:cs typeface="Carlito"/>
                        </a:rPr>
                        <a:t>Status</a:t>
                      </a:r>
                      <a:endParaRPr sz="1800">
                        <a:latin typeface="Carlito"/>
                        <a:cs typeface="Carlito"/>
                      </a:endParaRPr>
                    </a:p>
                  </a:txBody>
                  <a:tcPr marL="0" marR="0" marT="33020" marB="0">
                    <a:lnL w="12700">
                      <a:solidFill>
                        <a:srgbClr val="FFFFFF"/>
                      </a:solidFill>
                      <a:prstDash val="solid"/>
                    </a:lnL>
                    <a:lnR w="12700">
                      <a:solidFill>
                        <a:srgbClr val="FFFFFF"/>
                      </a:solidFill>
                      <a:prstDash val="solid"/>
                    </a:lnR>
                    <a:lnT w="12700">
                      <a:solidFill>
                        <a:srgbClr val="FFFFFF"/>
                      </a:solidFill>
                      <a:prstDash val="solid"/>
                    </a:lnT>
                    <a:solidFill>
                      <a:srgbClr val="4471C4"/>
                    </a:solidFill>
                  </a:tcPr>
                </a:tc>
                <a:extLst>
                  <a:ext uri="{0D108BD9-81ED-4DB2-BD59-A6C34878D82A}">
                    <a16:rowId xmlns:a16="http://schemas.microsoft.com/office/drawing/2014/main" val="10000"/>
                  </a:ext>
                </a:extLst>
              </a:tr>
              <a:tr h="557106">
                <a:tc>
                  <a:txBody>
                    <a:bodyPr/>
                    <a:lstStyle/>
                    <a:p>
                      <a:pPr marL="91440">
                        <a:lnSpc>
                          <a:spcPct val="100000"/>
                        </a:lnSpc>
                        <a:spcBef>
                          <a:spcPts val="110"/>
                        </a:spcBef>
                      </a:pPr>
                      <a:r>
                        <a:rPr sz="1800" spc="-20">
                          <a:latin typeface="Times New Roman"/>
                          <a:cs typeface="Times New Roman"/>
                        </a:rPr>
                        <a:t>July</a:t>
                      </a:r>
                      <a:endParaRPr sz="1800">
                        <a:latin typeface="Times New Roman"/>
                        <a:cs typeface="Times New Roman"/>
                      </a:endParaRPr>
                    </a:p>
                  </a:txBody>
                  <a:tcPr marL="0" marR="0" marT="13970" marB="0">
                    <a:lnL w="12700">
                      <a:solidFill>
                        <a:srgbClr val="FFFFFF"/>
                      </a:solidFill>
                      <a:prstDash val="solid"/>
                    </a:lnL>
                    <a:lnR w="12700">
                      <a:solidFill>
                        <a:srgbClr val="FFFFFF"/>
                      </a:solidFill>
                      <a:prstDash val="solid"/>
                    </a:lnR>
                    <a:lnB w="12700">
                      <a:solidFill>
                        <a:srgbClr val="FFFFFF"/>
                      </a:solidFill>
                      <a:prstDash val="solid"/>
                    </a:lnB>
                    <a:solidFill>
                      <a:srgbClr val="CFD4EA"/>
                    </a:solidFill>
                  </a:tcPr>
                </a:tc>
                <a:tc>
                  <a:txBody>
                    <a:bodyPr/>
                    <a:lstStyle/>
                    <a:p>
                      <a:pPr marL="142875">
                        <a:lnSpc>
                          <a:spcPct val="100000"/>
                        </a:lnSpc>
                        <a:spcBef>
                          <a:spcPts val="110"/>
                        </a:spcBef>
                      </a:pPr>
                      <a:r>
                        <a:rPr lang="en-IN" sz="1800" spc="-10">
                          <a:latin typeface="Times New Roman"/>
                          <a:cs typeface="Times New Roman"/>
                        </a:rPr>
                        <a:t>Literature review and Abstract finalization</a:t>
                      </a:r>
                      <a:endParaRPr sz="1800">
                        <a:latin typeface="Times New Roman"/>
                        <a:cs typeface="Times New Roman"/>
                      </a:endParaRPr>
                    </a:p>
                  </a:txBody>
                  <a:tcPr marL="0" marR="0" marT="13970" marB="0">
                    <a:lnL w="12700">
                      <a:solidFill>
                        <a:srgbClr val="FFFFFF"/>
                      </a:solidFill>
                      <a:prstDash val="solid"/>
                    </a:lnL>
                    <a:lnR w="12700">
                      <a:solidFill>
                        <a:srgbClr val="FFFFFF"/>
                      </a:solidFill>
                      <a:prstDash val="solid"/>
                    </a:lnR>
                    <a:lnB w="12700">
                      <a:solidFill>
                        <a:srgbClr val="FFFFFF"/>
                      </a:solidFill>
                      <a:prstDash val="solid"/>
                    </a:lnB>
                    <a:solidFill>
                      <a:srgbClr val="CFD4EA"/>
                    </a:solidFill>
                  </a:tcPr>
                </a:tc>
                <a:tc>
                  <a:txBody>
                    <a:bodyPr/>
                    <a:lstStyle/>
                    <a:p>
                      <a:pPr marL="91440">
                        <a:lnSpc>
                          <a:spcPct val="100000"/>
                        </a:lnSpc>
                        <a:spcBef>
                          <a:spcPts val="355"/>
                        </a:spcBef>
                      </a:pPr>
                      <a:r>
                        <a:rPr lang="en-IN" sz="1800">
                          <a:latin typeface="Times New Roman"/>
                          <a:cs typeface="Times New Roman"/>
                        </a:rPr>
                        <a:t>Completed</a:t>
                      </a:r>
                      <a:endParaRPr sz="1800">
                        <a:latin typeface="Times New Roman"/>
                        <a:cs typeface="Times New Roman"/>
                      </a:endParaRPr>
                    </a:p>
                  </a:txBody>
                  <a:tcPr marL="0" marR="0" marT="45085" marB="0">
                    <a:lnL w="12700">
                      <a:solidFill>
                        <a:srgbClr val="FFFFFF"/>
                      </a:solidFill>
                      <a:prstDash val="solid"/>
                    </a:lnL>
                    <a:lnR w="12700">
                      <a:solidFill>
                        <a:srgbClr val="FFFFFF"/>
                      </a:solidFill>
                      <a:prstDash val="solid"/>
                    </a:lnR>
                    <a:lnB w="12700">
                      <a:solidFill>
                        <a:srgbClr val="FFFFFF"/>
                      </a:solidFill>
                      <a:prstDash val="solid"/>
                    </a:lnB>
                    <a:solidFill>
                      <a:srgbClr val="CFD4EA"/>
                    </a:solidFill>
                  </a:tcPr>
                </a:tc>
                <a:extLst>
                  <a:ext uri="{0D108BD9-81ED-4DB2-BD59-A6C34878D82A}">
                    <a16:rowId xmlns:a16="http://schemas.microsoft.com/office/drawing/2014/main" val="10001"/>
                  </a:ext>
                </a:extLst>
              </a:tr>
              <a:tr h="480721">
                <a:tc>
                  <a:txBody>
                    <a:bodyPr/>
                    <a:lstStyle/>
                    <a:p>
                      <a:pPr marL="91440">
                        <a:lnSpc>
                          <a:spcPct val="100000"/>
                        </a:lnSpc>
                        <a:spcBef>
                          <a:spcPts val="260"/>
                        </a:spcBef>
                      </a:pPr>
                      <a:r>
                        <a:rPr sz="1800" spc="-10">
                          <a:latin typeface="Times New Roman"/>
                          <a:cs typeface="Times New Roman"/>
                        </a:rPr>
                        <a:t>August</a:t>
                      </a:r>
                      <a:endParaRPr sz="1800">
                        <a:latin typeface="Times New Roman"/>
                        <a:cs typeface="Times New Roman"/>
                      </a:endParaRPr>
                    </a:p>
                  </a:txBody>
                  <a:tcPr marL="0" marR="0" marT="330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1440" marR="422275">
                        <a:lnSpc>
                          <a:spcPct val="100000"/>
                        </a:lnSpc>
                        <a:spcBef>
                          <a:spcPts val="260"/>
                        </a:spcBef>
                      </a:pPr>
                      <a:r>
                        <a:rPr lang="en-IN" sz="1800">
                          <a:latin typeface="Times New Roman"/>
                          <a:cs typeface="Times New Roman"/>
                        </a:rPr>
                        <a:t>Study about methodology</a:t>
                      </a:r>
                      <a:endParaRPr sz="1800">
                        <a:latin typeface="Times New Roman"/>
                        <a:cs typeface="Times New Roman"/>
                      </a:endParaRPr>
                    </a:p>
                  </a:txBody>
                  <a:tcPr marL="0" marR="0" marT="330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r>
                        <a:rPr lang="en-IN" sz="1800">
                          <a:latin typeface="Times New Roman"/>
                          <a:cs typeface="Times New Roman"/>
                        </a:rPr>
                        <a:t>  Completed</a:t>
                      </a: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r h="555981">
                <a:tc>
                  <a:txBody>
                    <a:bodyPr/>
                    <a:lstStyle/>
                    <a:p>
                      <a:pPr marL="91440">
                        <a:lnSpc>
                          <a:spcPct val="100000"/>
                        </a:lnSpc>
                        <a:spcBef>
                          <a:spcPts val="260"/>
                        </a:spcBef>
                      </a:pPr>
                      <a:r>
                        <a:rPr sz="1800" spc="-10">
                          <a:latin typeface="Times New Roman"/>
                          <a:cs typeface="Times New Roman"/>
                        </a:rPr>
                        <a:t>September</a:t>
                      </a:r>
                      <a:endParaRPr sz="1800">
                        <a:latin typeface="Times New Roman"/>
                        <a:cs typeface="Times New Roman"/>
                      </a:endParaRPr>
                    </a:p>
                  </a:txBody>
                  <a:tcPr marL="0" marR="0" marT="330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1440">
                        <a:lnSpc>
                          <a:spcPct val="100000"/>
                        </a:lnSpc>
                        <a:spcBef>
                          <a:spcPts val="260"/>
                        </a:spcBef>
                      </a:pPr>
                      <a:r>
                        <a:rPr lang="en-IN" sz="1800">
                          <a:latin typeface="Times New Roman"/>
                          <a:cs typeface="Times New Roman"/>
                        </a:rPr>
                        <a:t>Collection of Dataset &amp; Study</a:t>
                      </a:r>
                      <a:endParaRPr sz="1800">
                        <a:latin typeface="Times New Roman"/>
                        <a:cs typeface="Times New Roman"/>
                      </a:endParaRPr>
                    </a:p>
                  </a:txBody>
                  <a:tcPr marL="0" marR="0" marT="330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a:lnSpc>
                          <a:spcPct val="100000"/>
                        </a:lnSpc>
                      </a:pPr>
                      <a:r>
                        <a:rPr lang="en-IN" sz="1800">
                          <a:latin typeface="Times New Roman"/>
                          <a:cs typeface="Times New Roman"/>
                        </a:rPr>
                        <a:t>  Completed</a:t>
                      </a: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3"/>
                  </a:ext>
                </a:extLst>
              </a:tr>
              <a:tr h="421338">
                <a:tc>
                  <a:txBody>
                    <a:bodyPr/>
                    <a:lstStyle/>
                    <a:p>
                      <a:pPr marL="91440">
                        <a:lnSpc>
                          <a:spcPct val="100000"/>
                        </a:lnSpc>
                        <a:spcBef>
                          <a:spcPts val="260"/>
                        </a:spcBef>
                      </a:pPr>
                      <a:r>
                        <a:rPr sz="1800" spc="-10">
                          <a:latin typeface="Times New Roman"/>
                          <a:cs typeface="Times New Roman"/>
                        </a:rPr>
                        <a:t>October</a:t>
                      </a:r>
                      <a:endParaRPr sz="1800">
                        <a:latin typeface="Times New Roman"/>
                        <a:cs typeface="Times New Roman"/>
                      </a:endParaRPr>
                    </a:p>
                  </a:txBody>
                  <a:tcPr marL="0" marR="0" marT="3301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1440">
                        <a:lnSpc>
                          <a:spcPct val="100000"/>
                        </a:lnSpc>
                        <a:spcBef>
                          <a:spcPts val="260"/>
                        </a:spcBef>
                      </a:pPr>
                      <a:r>
                        <a:rPr lang="en-IN" sz="1800" spc="-10">
                          <a:latin typeface="Times New Roman"/>
                          <a:cs typeface="Times New Roman"/>
                        </a:rPr>
                        <a:t>Working on project code</a:t>
                      </a:r>
                      <a:endParaRPr sz="1800">
                        <a:latin typeface="Times New Roman"/>
                        <a:cs typeface="Times New Roman"/>
                      </a:endParaRPr>
                    </a:p>
                  </a:txBody>
                  <a:tcPr marL="0" marR="0" marT="3301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r>
                        <a:rPr lang="en-IN" sz="1800">
                          <a:latin typeface="Times New Roman"/>
                          <a:cs typeface="Times New Roman"/>
                        </a:rPr>
                        <a:t>  Completed</a:t>
                      </a: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4"/>
                  </a:ext>
                </a:extLst>
              </a:tr>
              <a:tr h="421338">
                <a:tc>
                  <a:txBody>
                    <a:bodyPr/>
                    <a:lstStyle/>
                    <a:p>
                      <a:pPr marL="91440">
                        <a:lnSpc>
                          <a:spcPct val="100000"/>
                        </a:lnSpc>
                        <a:spcBef>
                          <a:spcPts val="260"/>
                        </a:spcBef>
                      </a:pPr>
                      <a:r>
                        <a:rPr sz="1800" spc="-10">
                          <a:latin typeface="Times New Roman"/>
                          <a:cs typeface="Times New Roman"/>
                        </a:rPr>
                        <a:t>November</a:t>
                      </a:r>
                      <a:endParaRPr sz="1800">
                        <a:latin typeface="Times New Roman"/>
                        <a:cs typeface="Times New Roman"/>
                      </a:endParaRPr>
                    </a:p>
                  </a:txBody>
                  <a:tcPr marL="0" marR="0" marT="3301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91440">
                        <a:lnSpc>
                          <a:spcPct val="100000"/>
                        </a:lnSpc>
                        <a:spcBef>
                          <a:spcPts val="260"/>
                        </a:spcBef>
                      </a:pPr>
                      <a:r>
                        <a:rPr lang="en-IN" sz="1800" spc="-25">
                          <a:latin typeface="Times New Roman"/>
                          <a:cs typeface="Times New Roman"/>
                        </a:rPr>
                        <a:t>Implementation</a:t>
                      </a:r>
                      <a:endParaRPr sz="1800">
                        <a:latin typeface="Times New Roman"/>
                        <a:cs typeface="Times New Roman"/>
                      </a:endParaRPr>
                    </a:p>
                  </a:txBody>
                  <a:tcPr marL="0" marR="0" marT="3301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a:lnSpc>
                          <a:spcPct val="100000"/>
                        </a:lnSpc>
                      </a:pPr>
                      <a:r>
                        <a:rPr lang="en-IN" sz="1800">
                          <a:latin typeface="Times New Roman"/>
                          <a:cs typeface="Times New Roman"/>
                        </a:rPr>
                        <a:t>  Completed</a:t>
                      </a: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5"/>
                  </a:ext>
                </a:extLst>
              </a:tr>
              <a:tr h="487576">
                <a:tc>
                  <a:txBody>
                    <a:bodyPr/>
                    <a:lstStyle/>
                    <a:p>
                      <a:pPr marL="91440">
                        <a:lnSpc>
                          <a:spcPct val="100000"/>
                        </a:lnSpc>
                        <a:spcBef>
                          <a:spcPts val="260"/>
                        </a:spcBef>
                      </a:pPr>
                      <a:r>
                        <a:rPr sz="1800" spc="-10">
                          <a:latin typeface="Times New Roman"/>
                          <a:cs typeface="Times New Roman"/>
                        </a:rPr>
                        <a:t>December</a:t>
                      </a:r>
                      <a:endParaRPr sz="1800">
                        <a:latin typeface="Times New Roman"/>
                        <a:cs typeface="Times New Roman"/>
                      </a:endParaRPr>
                    </a:p>
                  </a:txBody>
                  <a:tcPr marL="0" marR="0" marT="3301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1440">
                        <a:lnSpc>
                          <a:spcPct val="100000"/>
                        </a:lnSpc>
                        <a:spcBef>
                          <a:spcPts val="260"/>
                        </a:spcBef>
                      </a:pPr>
                      <a:r>
                        <a:rPr lang="en-IN" sz="1800" spc="-25">
                          <a:latin typeface="Times New Roman"/>
                          <a:cs typeface="Times New Roman"/>
                        </a:rPr>
                        <a:t>Testing</a:t>
                      </a:r>
                      <a:endParaRPr sz="1800">
                        <a:latin typeface="Times New Roman"/>
                        <a:cs typeface="Times New Roman"/>
                      </a:endParaRPr>
                    </a:p>
                  </a:txBody>
                  <a:tcPr marL="0" marR="0" marT="3301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r>
                        <a:rPr lang="en-IN" sz="1800">
                          <a:latin typeface="Times New Roman"/>
                          <a:cs typeface="Times New Roman"/>
                        </a:rPr>
                        <a:t>  Completed</a:t>
                      </a: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6"/>
                  </a:ext>
                </a:extLst>
              </a:tr>
              <a:tr h="421338">
                <a:tc>
                  <a:txBody>
                    <a:bodyPr/>
                    <a:lstStyle/>
                    <a:p>
                      <a:pPr marL="91440">
                        <a:lnSpc>
                          <a:spcPct val="100000"/>
                        </a:lnSpc>
                        <a:spcBef>
                          <a:spcPts val="260"/>
                        </a:spcBef>
                      </a:pPr>
                      <a:r>
                        <a:rPr sz="1800" spc="-10">
                          <a:latin typeface="Times New Roman"/>
                          <a:cs typeface="Times New Roman"/>
                        </a:rPr>
                        <a:t>January</a:t>
                      </a:r>
                      <a:endParaRPr sz="1800">
                        <a:latin typeface="Times New Roman"/>
                        <a:cs typeface="Times New Roman"/>
                      </a:endParaRPr>
                    </a:p>
                  </a:txBody>
                  <a:tcPr marL="0" marR="0" marT="330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a:lnSpc>
                          <a:spcPct val="100000"/>
                        </a:lnSpc>
                      </a:pPr>
                      <a:r>
                        <a:rPr lang="en-IN" sz="1800">
                          <a:latin typeface="Times New Roman"/>
                          <a:cs typeface="Times New Roman"/>
                        </a:rPr>
                        <a:t> Paper Communication</a:t>
                      </a:r>
                      <a:endParaRPr lang="en-US" sz="18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a:lnSpc>
                          <a:spcPct val="100000"/>
                        </a:lnSpc>
                      </a:pPr>
                      <a:r>
                        <a:rPr lang="en-IN" sz="1800">
                          <a:latin typeface="Times New Roman"/>
                          <a:cs typeface="Times New Roman"/>
                        </a:rPr>
                        <a:t>  Completed</a:t>
                      </a: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7"/>
                  </a:ext>
                </a:extLst>
              </a:tr>
              <a:tr h="543273">
                <a:tc>
                  <a:txBody>
                    <a:bodyPr/>
                    <a:lstStyle/>
                    <a:p>
                      <a:pPr marL="91440">
                        <a:lnSpc>
                          <a:spcPct val="100000"/>
                        </a:lnSpc>
                        <a:spcBef>
                          <a:spcPts val="260"/>
                        </a:spcBef>
                      </a:pPr>
                      <a:r>
                        <a:rPr sz="1800" spc="-10">
                          <a:latin typeface="Times New Roman"/>
                          <a:cs typeface="Times New Roman"/>
                        </a:rPr>
                        <a:t>February</a:t>
                      </a:r>
                      <a:endParaRPr sz="1800">
                        <a:latin typeface="Times New Roman"/>
                        <a:cs typeface="Times New Roman"/>
                      </a:endParaRPr>
                    </a:p>
                  </a:txBody>
                  <a:tcPr marL="0" marR="0" marT="33019"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r>
                        <a:rPr lang="en-IN" sz="1800">
                          <a:latin typeface="Times New Roman"/>
                          <a:cs typeface="Times New Roman"/>
                        </a:rPr>
                        <a:t> Rough copy preparation and   Submission</a:t>
                      </a: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nSpc>
                          <a:spcPct val="100000"/>
                        </a:lnSpc>
                      </a:pPr>
                      <a:r>
                        <a:rPr lang="en-IN" sz="1800">
                          <a:latin typeface="Times New Roman" panose="02020603050405020304" pitchFamily="18" charset="0"/>
                          <a:cs typeface="Times New Roman" panose="02020603050405020304" pitchFamily="18" charset="0"/>
                        </a:rPr>
                        <a:t>  </a:t>
                      </a:r>
                      <a:r>
                        <a:rPr lang="en-IN" sz="1800">
                          <a:latin typeface="Times New Roman"/>
                          <a:cs typeface="Times New Roman"/>
                        </a:rPr>
                        <a:t>Completed</a:t>
                      </a:r>
                      <a:endParaRPr sz="1800">
                        <a:latin typeface="Times New Roman" panose="02020603050405020304" pitchFamily="18" charset="0"/>
                        <a:cs typeface="Times New Roman" panose="02020603050405020304" pitchFamily="18" charset="0"/>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8"/>
                  </a:ext>
                </a:extLst>
              </a:tr>
              <a:tr h="543273">
                <a:tc>
                  <a:txBody>
                    <a:bodyPr/>
                    <a:lstStyle/>
                    <a:p>
                      <a:pPr marL="91440">
                        <a:lnSpc>
                          <a:spcPct val="100000"/>
                        </a:lnSpc>
                        <a:spcBef>
                          <a:spcPts val="260"/>
                        </a:spcBef>
                      </a:pPr>
                      <a:r>
                        <a:rPr sz="1800" spc="-10">
                          <a:latin typeface="Times New Roman"/>
                          <a:cs typeface="Times New Roman"/>
                        </a:rPr>
                        <a:t>March</a:t>
                      </a:r>
                      <a:endParaRPr sz="1800">
                        <a:latin typeface="Times New Roman"/>
                        <a:cs typeface="Times New Roman"/>
                      </a:endParaRPr>
                    </a:p>
                  </a:txBody>
                  <a:tcPr marL="0" marR="0" marT="330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a:lnSpc>
                          <a:spcPct val="100000"/>
                        </a:lnSpc>
                      </a:pPr>
                      <a:r>
                        <a:rPr lang="en-IN" sz="1800">
                          <a:latin typeface="Times New Roman"/>
                          <a:cs typeface="Times New Roman"/>
                        </a:rPr>
                        <a:t> Final document preparation &amp; Submission</a:t>
                      </a: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a:lnSpc>
                          <a:spcPct val="100000"/>
                        </a:lnSpc>
                      </a:pPr>
                      <a:endParaRPr sz="1800">
                        <a:latin typeface="Times New Roman" panose="02020603050405020304" pitchFamily="18" charset="0"/>
                        <a:cs typeface="Times New Roman" panose="02020603050405020304" pitchFamily="18" charset="0"/>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9"/>
                  </a:ext>
                </a:extLst>
              </a:tr>
            </a:tbl>
          </a:graphicData>
        </a:graphic>
      </p:graphicFrame>
      <p:sp>
        <p:nvSpPr>
          <p:cNvPr id="3" name="object 3"/>
          <p:cNvSpPr txBox="1">
            <a:spLocks noGrp="1"/>
          </p:cNvSpPr>
          <p:nvPr>
            <p:ph type="title"/>
          </p:nvPr>
        </p:nvSpPr>
        <p:spPr>
          <a:xfrm>
            <a:off x="736253" y="717114"/>
            <a:ext cx="10515600" cy="503598"/>
          </a:xfrm>
          <a:prstGeom prst="rect">
            <a:avLst/>
          </a:prstGeom>
        </p:spPr>
        <p:txBody>
          <a:bodyPr vert="horz" wrap="square" lIns="0" tIns="72008" rIns="0" bIns="0" rtlCol="0">
            <a:spAutoFit/>
          </a:bodyPr>
          <a:lstStyle/>
          <a:p>
            <a:pPr marL="3079750">
              <a:lnSpc>
                <a:spcPct val="100000"/>
              </a:lnSpc>
              <a:spcBef>
                <a:spcPts val="95"/>
              </a:spcBef>
            </a:pPr>
            <a:r>
              <a:rPr sz="2800" b="1">
                <a:solidFill>
                  <a:srgbClr val="FF0000"/>
                </a:solidFill>
                <a:uFill>
                  <a:solidFill>
                    <a:srgbClr val="FF0000"/>
                  </a:solidFill>
                </a:uFill>
                <a:latin typeface="Times New Roman" panose="02020603050405020304" pitchFamily="18" charset="0"/>
                <a:cs typeface="Times New Roman" panose="02020603050405020304" pitchFamily="18" charset="0"/>
              </a:rPr>
              <a:t>Monthly</a:t>
            </a:r>
            <a:r>
              <a:rPr sz="2800" b="1" spc="-95">
                <a:solidFill>
                  <a:srgbClr val="FF0000"/>
                </a:solidFill>
                <a:uFill>
                  <a:solidFill>
                    <a:srgbClr val="FF0000"/>
                  </a:solidFill>
                </a:uFill>
                <a:latin typeface="Times New Roman" panose="02020603050405020304" pitchFamily="18" charset="0"/>
                <a:cs typeface="Times New Roman" panose="02020603050405020304" pitchFamily="18" charset="0"/>
              </a:rPr>
              <a:t> </a:t>
            </a:r>
            <a:r>
              <a:rPr sz="2800" b="1">
                <a:solidFill>
                  <a:srgbClr val="FF0000"/>
                </a:solidFill>
                <a:uFill>
                  <a:solidFill>
                    <a:srgbClr val="FF0000"/>
                  </a:solidFill>
                </a:uFill>
                <a:latin typeface="Times New Roman" panose="02020603050405020304" pitchFamily="18" charset="0"/>
                <a:cs typeface="Times New Roman" panose="02020603050405020304" pitchFamily="18" charset="0"/>
              </a:rPr>
              <a:t>Work</a:t>
            </a:r>
            <a:r>
              <a:rPr sz="2800" b="1" spc="-95">
                <a:solidFill>
                  <a:srgbClr val="FF0000"/>
                </a:solidFill>
                <a:uFill>
                  <a:solidFill>
                    <a:srgbClr val="FF0000"/>
                  </a:solidFill>
                </a:uFill>
                <a:latin typeface="Times New Roman" panose="02020603050405020304" pitchFamily="18" charset="0"/>
                <a:cs typeface="Times New Roman" panose="02020603050405020304" pitchFamily="18" charset="0"/>
              </a:rPr>
              <a:t> </a:t>
            </a:r>
            <a:r>
              <a:rPr lang="en-IN" sz="2800" b="1" spc="-20">
                <a:solidFill>
                  <a:srgbClr val="FF0000"/>
                </a:solidFill>
                <a:uFill>
                  <a:solidFill>
                    <a:srgbClr val="FF0000"/>
                  </a:solidFill>
                </a:uFill>
                <a:latin typeface="Times New Roman" panose="02020603050405020304" pitchFamily="18" charset="0"/>
                <a:cs typeface="Times New Roman" panose="02020603050405020304" pitchFamily="18" charset="0"/>
              </a:rPr>
              <a:t>p</a:t>
            </a:r>
            <a:r>
              <a:rPr sz="2800" b="1" spc="-20">
                <a:solidFill>
                  <a:srgbClr val="FF0000"/>
                </a:solidFill>
                <a:uFill>
                  <a:solidFill>
                    <a:srgbClr val="FF0000"/>
                  </a:solidFill>
                </a:uFill>
                <a:latin typeface="Times New Roman" panose="02020603050405020304" pitchFamily="18" charset="0"/>
                <a:cs typeface="Times New Roman" panose="02020603050405020304" pitchFamily="18" charset="0"/>
              </a:rPr>
              <a:t>la</a:t>
            </a:r>
            <a:r>
              <a:rPr lang="en-IN" sz="2800" b="1" spc="-20">
                <a:solidFill>
                  <a:srgbClr val="FF0000"/>
                </a:solidFill>
                <a:uFill>
                  <a:solidFill>
                    <a:srgbClr val="FF0000"/>
                  </a:solidFill>
                </a:uFill>
                <a:latin typeface="Times New Roman" panose="02020603050405020304" pitchFamily="18" charset="0"/>
                <a:cs typeface="Times New Roman" panose="02020603050405020304" pitchFamily="18" charset="0"/>
              </a:rPr>
              <a:t>n</a:t>
            </a:r>
            <a:endParaRPr sz="2800" b="1">
              <a:latin typeface="Times New Roman" panose="02020603050405020304" pitchFamily="18" charset="0"/>
              <a:cs typeface="Times New Roman" panose="02020603050405020304" pitchFamily="18" charset="0"/>
            </a:endParaRPr>
          </a:p>
        </p:txBody>
      </p:sp>
      <p:sp>
        <p:nvSpPr>
          <p:cNvPr id="4" name="object 4"/>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1" y="302219"/>
            <a:ext cx="12190729" cy="1009634"/>
          </a:xfrm>
          <a:prstGeom prst="rect">
            <a:avLst/>
          </a:prstGeom>
        </p:spPr>
        <p:txBody>
          <a:bodyPr vert="horz" wrap="square" lIns="0" tIns="329310" rIns="0" bIns="0" rtlCol="0">
            <a:spAutoFit/>
          </a:bodyPr>
          <a:lstStyle/>
          <a:p>
            <a:pPr marL="3949700" algn="just">
              <a:lnSpc>
                <a:spcPct val="100000"/>
              </a:lnSpc>
              <a:spcBef>
                <a:spcPts val="105"/>
              </a:spcBef>
            </a:pPr>
            <a:r>
              <a:rPr lang="en-IN" b="1" u="sng" spc="-20">
                <a:latin typeface="Times New Roman"/>
                <a:cs typeface="Times New Roman"/>
              </a:rPr>
              <a:t>CONCLUSION</a:t>
            </a:r>
            <a:endParaRPr lang="en-US" b="1" u="sng" spc="-20">
              <a:latin typeface="Times New Roman"/>
              <a:cs typeface="Times New Roman"/>
            </a:endParaRPr>
          </a:p>
        </p:txBody>
      </p:sp>
      <p:sp>
        <p:nvSpPr>
          <p:cNvPr id="4" name="object 4"/>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a:endParaRPr/>
          </a:p>
        </p:txBody>
      </p:sp>
      <p:sp>
        <p:nvSpPr>
          <p:cNvPr id="5" name="Rectangle 4"/>
          <p:cNvSpPr/>
          <p:nvPr/>
        </p:nvSpPr>
        <p:spPr>
          <a:xfrm>
            <a:off x="397136" y="1723747"/>
            <a:ext cx="11634777" cy="4832092"/>
          </a:xfrm>
          <a:prstGeom prst="rect">
            <a:avLst/>
          </a:prstGeom>
        </p:spPr>
        <p:txBody>
          <a:bodyPr wrap="square" lIns="91440" tIns="45720" rIns="91440" bIns="45720" anchor="t">
            <a:spAutoFit/>
          </a:bodyPr>
          <a:lstStyle/>
          <a:p>
            <a:pPr algn="just"/>
            <a:r>
              <a:rPr lang="en-US" sz="2800">
                <a:latin typeface="Times New Roman"/>
                <a:ea typeface="Calibri"/>
                <a:cs typeface="Times New Roman"/>
              </a:rPr>
              <a:t>This project proposes a CNN based model to successfully detect and classify </a:t>
            </a:r>
            <a:r>
              <a:rPr lang="en-US" sz="2800" dirty="0">
                <a:latin typeface="Times New Roman"/>
                <a:ea typeface="Calibri"/>
                <a:cs typeface="Times New Roman"/>
              </a:rPr>
              <a:t>retinal hemorrhages. This method consists of a structured pipeline composed of image preprocessing, optic disc removal, blood vessel segmentation, segmentation of hemorrhages feature extraction and finally classification. 97%-Accuracy, 95%-Sensitivity, 98%-Specificity, and 97%-Precision are obtained. The results of confusion matrix and ROC curve analysis showed the highest discriminatory power of proposed model with AUC as 0.9910 (99.10%) thus almost represents almost optimal. Moreover, the classification accuracy, precision, recall, and </a:t>
            </a:r>
            <a:r>
              <a:rPr lang="en-US" sz="2800">
                <a:latin typeface="Times New Roman"/>
                <a:ea typeface="Calibri"/>
                <a:cs typeface="Times New Roman"/>
              </a:rPr>
              <a:t>specificity of CNN are better than the </a:t>
            </a:r>
            <a:r>
              <a:rPr lang="en-US" sz="2800" err="1">
                <a:latin typeface="Times New Roman"/>
                <a:ea typeface="Calibri"/>
                <a:cs typeface="Times New Roman"/>
              </a:rPr>
              <a:t>SVM,Random</a:t>
            </a:r>
            <a:r>
              <a:rPr lang="en-US" sz="2800">
                <a:latin typeface="Times New Roman"/>
                <a:ea typeface="Calibri"/>
                <a:cs typeface="Times New Roman"/>
              </a:rPr>
              <a:t> </a:t>
            </a:r>
            <a:r>
              <a:rPr lang="en-US" sz="2800" err="1">
                <a:latin typeface="Times New Roman"/>
                <a:ea typeface="Calibri"/>
                <a:cs typeface="Times New Roman"/>
              </a:rPr>
              <a:t>forest,Decision</a:t>
            </a:r>
            <a:r>
              <a:rPr lang="en-US" sz="2800" dirty="0">
                <a:latin typeface="Times New Roman"/>
                <a:ea typeface="Calibri"/>
                <a:cs typeface="Times New Roman"/>
              </a:rPr>
              <a:t> tree, resulting in confirmation of the importance of CNN in medical image analysis.</a:t>
            </a:r>
            <a:endParaRPr lang="en-US" sz="2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9768" y="2766218"/>
            <a:ext cx="10754032" cy="1325563"/>
          </a:xfrm>
        </p:spPr>
        <p:txBody>
          <a:bodyPr>
            <a:normAutofit/>
          </a:bodyPr>
          <a:lstStyle/>
          <a:p>
            <a:pPr algn="ctr"/>
            <a:r>
              <a:rPr lang="en-IN" sz="6600" b="1">
                <a:latin typeface="Times New Roman" panose="02020603050405020304" pitchFamily="18" charset="0"/>
                <a:cs typeface="Times New Roman" panose="02020603050405020304" pitchFamily="18" charset="0"/>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1894</Words>
  <Application>Microsoft Office PowerPoint</Application>
  <PresentationFormat>Widescreen</PresentationFormat>
  <Paragraphs>283</Paragraphs>
  <Slides>29</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Arial</vt:lpstr>
      <vt:lpstr>Calibri</vt:lpstr>
      <vt:lpstr>Calibri Light</vt:lpstr>
      <vt:lpstr>Cambria Math</vt:lpstr>
      <vt:lpstr>Carlito</vt:lpstr>
      <vt:lpstr>Times New Roman</vt:lpstr>
      <vt:lpstr>Tw Cen MT</vt:lpstr>
      <vt:lpstr>Office Theme</vt:lpstr>
      <vt:lpstr>Department of Electronics and Communication Engineering</vt:lpstr>
      <vt:lpstr>                             ABSTRACT</vt:lpstr>
      <vt:lpstr>METHODOLOGY</vt:lpstr>
      <vt:lpstr> FUNDUS IMAGES (APTOS-2019 DATASET)</vt:lpstr>
      <vt:lpstr>PowerPoint Presentation</vt:lpstr>
      <vt:lpstr>               OUTPUT OF PRE-PROCESSING</vt:lpstr>
      <vt:lpstr>      OPTICAL DISK REMOVAL</vt:lpstr>
      <vt:lpstr>PowerPoint Presentation</vt:lpstr>
      <vt:lpstr> BLOOD VESSEL ENHANCEMENT AND  REMOVAL</vt:lpstr>
      <vt:lpstr>PowerPoint Presentation</vt:lpstr>
      <vt:lpstr>PowerPoint Presentation</vt:lpstr>
      <vt:lpstr>SEGMENTATION OF HEMORRHAGES</vt:lpstr>
      <vt:lpstr>PowerPoint Presentation</vt:lpstr>
      <vt:lpstr>Classification and CNN Algorithm:</vt:lpstr>
      <vt:lpstr>2D CNN ALGORITHM:</vt:lpstr>
      <vt:lpstr>MAX POOLING LAYER:</vt:lpstr>
      <vt:lpstr>PowerPoint Presentation</vt:lpstr>
      <vt:lpstr>PowerPoint Presentation</vt:lpstr>
      <vt:lpstr>PowerPoint Presentation</vt:lpstr>
      <vt:lpstr>Confusion matrix(Testing Images)</vt:lpstr>
      <vt:lpstr>PowerPoint Presentation</vt:lpstr>
      <vt:lpstr>PowerPoint Presentation</vt:lpstr>
      <vt:lpstr>PowerPoint Presentation</vt:lpstr>
      <vt:lpstr>PowerPoint Presentation</vt:lpstr>
      <vt:lpstr>PowerPoint Presentation</vt:lpstr>
      <vt:lpstr>Current Progress</vt:lpstr>
      <vt:lpstr>Monthly Work plan</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Department of Electronics and Communication Engineering</dc:title>
  <dc:creator>Bibekananda Jena</dc:creator>
  <cp:lastModifiedBy>g sai Harsha Vardhan</cp:lastModifiedBy>
  <cp:revision>1</cp:revision>
  <dcterms:created xsi:type="dcterms:W3CDTF">2024-07-31T07:06:00Z</dcterms:created>
  <dcterms:modified xsi:type="dcterms:W3CDTF">2026-04-22T13:08:20Z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C3B9FF329B544DDF8A1E5ACFEBD2080F_13</vt:lpwstr>
  </property>
  <property fmtid="{D5CDD505-2E9C-101B-9397-08002B2CF9AE}" pid="3" name="KSOProductBuildVer">
    <vt:lpwstr>1033-12.2.0.18607</vt:lpwstr>
  </property>
</Properties>
</file>